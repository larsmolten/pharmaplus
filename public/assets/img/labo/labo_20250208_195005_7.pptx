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21"/>
  </p:notesMasterIdLst>
  <p:sldIdLst>
    <p:sldId id="260" r:id="rId2"/>
    <p:sldId id="279" r:id="rId3"/>
    <p:sldId id="262" r:id="rId4"/>
    <p:sldId id="257" r:id="rId5"/>
    <p:sldId id="258" r:id="rId6"/>
    <p:sldId id="259" r:id="rId7"/>
    <p:sldId id="261" r:id="rId8"/>
    <p:sldId id="263" r:id="rId9"/>
    <p:sldId id="264" r:id="rId10"/>
    <p:sldId id="265" r:id="rId11"/>
    <p:sldId id="266" r:id="rId12"/>
    <p:sldId id="267" r:id="rId13"/>
    <p:sldId id="268" r:id="rId14"/>
    <p:sldId id="271" r:id="rId15"/>
    <p:sldId id="273" r:id="rId16"/>
    <p:sldId id="274" r:id="rId17"/>
    <p:sldId id="275" r:id="rId18"/>
    <p:sldId id="276" r:id="rId19"/>
    <p:sldId id="27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121" autoAdjust="0"/>
  </p:normalViewPr>
  <p:slideViewPr>
    <p:cSldViewPr snapToGrid="0">
      <p:cViewPr>
        <p:scale>
          <a:sx n="75" d="100"/>
          <a:sy n="75" d="100"/>
        </p:scale>
        <p:origin x="1914" y="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861207-438B-472B-AE4B-E1ACD8551F81}" type="datetimeFigureOut">
              <a:rPr lang="fr-FR" smtClean="0"/>
              <a:t>03/02/2025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DD49D-6A62-4045-9F7D-ED405E9B87D2}" type="slidenum">
              <a:rPr lang="fr-FR" smtClean="0"/>
              <a:t>‹N°›</a:t>
            </a:fld>
            <a:endParaRPr lang="fr-FR"/>
          </a:p>
        </p:txBody>
      </p:sp>
    </p:spTree>
    <p:extLst>
      <p:ext uri="{BB962C8B-B14F-4D97-AF65-F5344CB8AC3E}">
        <p14:creationId xmlns:p14="http://schemas.microsoft.com/office/powerpoint/2010/main" val="1297887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t>Merci, Monsieur le Président, de m’avoir donné la parole.</a:t>
            </a:r>
            <a:br>
              <a:rPr lang="fr-FR" sz="1800" dirty="0"/>
            </a:br>
            <a:r>
              <a:rPr lang="fr-FR" sz="1800" b="0" strike="noStrike" spc="-1" dirty="0">
                <a:solidFill>
                  <a:srgbClr val="000000"/>
                </a:solidFill>
                <a:uFill>
                  <a:solidFill>
                    <a:srgbClr val="FFFFFF"/>
                  </a:solidFill>
                </a:uFill>
                <a:latin typeface="+mn-lt"/>
                <a:ea typeface="+mn-ea"/>
              </a:rPr>
              <a:t>Chers membres du jury,</a:t>
            </a:r>
          </a:p>
          <a:p>
            <a:pPr marL="0" marR="0" indent="0" algn="l" defTabSz="914400" rtl="0" eaLnBrk="1" fontAlgn="auto" latinLnBrk="0" hangingPunct="1">
              <a:lnSpc>
                <a:spcPct val="100000"/>
              </a:lnSpc>
              <a:spcBef>
                <a:spcPts val="0"/>
              </a:spcBef>
              <a:spcAft>
                <a:spcPts val="0"/>
              </a:spcAft>
              <a:buClrTx/>
              <a:buSzTx/>
              <a:buFontTx/>
              <a:buNone/>
              <a:tabLst/>
              <a:defRPr/>
            </a:pPr>
            <a:r>
              <a:rPr lang="fr-FR" sz="1800" b="0" strike="noStrike" spc="-1" dirty="0">
                <a:solidFill>
                  <a:srgbClr val="000000"/>
                </a:solidFill>
                <a:uFill>
                  <a:solidFill>
                    <a:srgbClr val="FFFFFF"/>
                  </a:solidFill>
                </a:uFill>
                <a:latin typeface="+mn-lt"/>
                <a:ea typeface="+mn-ea"/>
              </a:rPr>
              <a:t>Honorables assistances,</a:t>
            </a:r>
            <a:endParaRPr lang="fr-FR" sz="1800" b="0" strike="noStrike" spc="-1" dirty="0">
              <a:solidFill>
                <a:srgbClr val="000000"/>
              </a:solidFill>
              <a:uFill>
                <a:solidFill>
                  <a:srgbClr val="FFFFFF"/>
                </a:solidFill>
              </a:uFill>
              <a:latin typeface="Arial"/>
            </a:endParaRPr>
          </a:p>
          <a:p>
            <a:r>
              <a:rPr lang="fr-FR" sz="1800" b="0" strike="noStrike" spc="-1" dirty="0">
                <a:solidFill>
                  <a:srgbClr val="000000"/>
                </a:solidFill>
                <a:uFill>
                  <a:solidFill>
                    <a:srgbClr val="FFFFFF"/>
                  </a:solidFill>
                </a:uFill>
                <a:latin typeface="+mn-lt"/>
                <a:ea typeface="+mn-ea"/>
              </a:rPr>
              <a:t>Mme et Mr </a:t>
            </a:r>
            <a:endParaRPr lang="fr-FR" sz="1800" b="0" strike="noStrike" spc="-1" dirty="0">
              <a:solidFill>
                <a:srgbClr val="000000"/>
              </a:solidFill>
              <a:uFill>
                <a:solidFill>
                  <a:srgbClr val="FFFFFF"/>
                </a:solidFill>
              </a:uFill>
              <a:latin typeface="Arial"/>
            </a:endParaRPr>
          </a:p>
          <a:p>
            <a:r>
              <a:rPr lang="fr-FR" sz="1800" b="0" strike="noStrike" spc="-1" dirty="0">
                <a:solidFill>
                  <a:srgbClr val="000000"/>
                </a:solidFill>
                <a:uFill>
                  <a:solidFill>
                    <a:srgbClr val="FFFFFF"/>
                  </a:solidFill>
                </a:uFill>
                <a:latin typeface="+mn-lt"/>
                <a:ea typeface="+mn-ea"/>
              </a:rPr>
              <a:t>Bonjour ,</a:t>
            </a:r>
            <a:endParaRPr lang="fr-FR" sz="1800" b="0" strike="noStrike" spc="-1" dirty="0">
              <a:solidFill>
                <a:srgbClr val="000000"/>
              </a:solidFill>
              <a:uFill>
                <a:solidFill>
                  <a:srgbClr val="FFFFFF"/>
                </a:solidFill>
              </a:uFill>
              <a:latin typeface="Arial"/>
            </a:endParaRPr>
          </a:p>
          <a:p>
            <a:pPr>
              <a:lnSpc>
                <a:spcPct val="100000"/>
              </a:lnSpc>
            </a:pPr>
            <a:r>
              <a:rPr lang="fr-FR" sz="1800" dirty="0"/>
              <a:t>C’est un immense honneur pour moi de me tenir devant vous  aujourd’hui afin de vous présenter le fruit de mon travail durant mon stage au sein de la société SAIM Ltd.</a:t>
            </a:r>
            <a:endParaRPr lang="fr-FR" sz="1800" b="0" strike="noStrike" spc="-1" dirty="0">
              <a:solidFill>
                <a:srgbClr val="000000"/>
              </a:solidFill>
              <a:uFill>
                <a:solidFill>
                  <a:srgbClr val="FFFFFF"/>
                </a:solidFill>
              </a:u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strike="noStrike" spc="-1" dirty="0">
                <a:solidFill>
                  <a:srgbClr val="000000"/>
                </a:solidFill>
                <a:uFill>
                  <a:solidFill>
                    <a:srgbClr val="FFFFFF"/>
                  </a:solidFill>
                </a:uFill>
                <a:latin typeface="+mn-lt"/>
                <a:ea typeface="+mn-ea"/>
              </a:rPr>
              <a:t>Mon thème s’intitule : </a:t>
            </a:r>
            <a:r>
              <a:rPr lang="fr-FR" sz="1800" dirty="0"/>
              <a:t> "Conception et développement d’une application web pour la gestion des devis, factures et bons de livraison dans le domaine de la menuiserie en mélamine et aluminium", afin d'obtenir mon diplôme de Master</a:t>
            </a:r>
            <a:endParaRPr lang="fr-FR" sz="1800" b="0" strike="noStrike" spc="-1" dirty="0">
              <a:solidFill>
                <a:srgbClr val="000000"/>
              </a:solidFill>
              <a:uFill>
                <a:solidFill>
                  <a:srgbClr val="FFFFFF"/>
                </a:solidFill>
              </a:uFill>
              <a:latin typeface="Arial"/>
            </a:endParaRPr>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a:t>
            </a:fld>
            <a:endParaRPr lang="fr-FR"/>
          </a:p>
        </p:txBody>
      </p:sp>
    </p:spTree>
    <p:extLst>
      <p:ext uri="{BB962C8B-B14F-4D97-AF65-F5344CB8AC3E}">
        <p14:creationId xmlns:p14="http://schemas.microsoft.com/office/powerpoint/2010/main" val="774903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Times New Roman" panose="02020603050405020304" pitchFamily="18" charset="0"/>
              </a:rPr>
              <a:t>Tout d’abord, remercions DIEU TOUT PUISSANT qui sans la bénédiction, ce projet n’aura pas été réalisé,</a:t>
            </a:r>
          </a:p>
          <a:p>
            <a:endParaRPr lang="fr-FR" sz="1800" dirty="0">
              <a:effectLst/>
              <a:latin typeface="Times New Roman" panose="02020603050405020304" pitchFamily="18" charset="0"/>
            </a:endParaRPr>
          </a:p>
          <a:p>
            <a:r>
              <a:rPr lang="fr-FR" dirty="0"/>
              <a:t> Je tiens aussi a remercier  :</a:t>
            </a:r>
          </a:p>
          <a:p>
            <a:endParaRPr lang="fr-FR" dirty="0"/>
          </a:p>
          <a:p>
            <a:pPr marL="171450" indent="-171450">
              <a:buClr>
                <a:schemeClr val="bg2"/>
              </a:buClr>
              <a:buFont typeface="Wingdings" panose="05000000000000000000" pitchFamily="2" charset="2"/>
              <a:buChar char="v"/>
            </a:pPr>
            <a:r>
              <a:rPr lang="fr-FR" dirty="0"/>
              <a:t>À </a:t>
            </a:r>
            <a:r>
              <a:rPr lang="fr-FR" b="1" dirty="0"/>
              <a:t>Monsieur le Docteur HDR HAJALALAINA Aimé Richard</a:t>
            </a:r>
            <a:r>
              <a:rPr lang="fr-FR" dirty="0"/>
              <a:t>, président de l’Université de Fianarantsoa.</a:t>
            </a:r>
          </a:p>
          <a:p>
            <a:pPr marL="171450" indent="-171450">
              <a:buClr>
                <a:schemeClr val="bg2"/>
              </a:buClr>
              <a:buFont typeface="Wingdings" panose="05000000000000000000" pitchFamily="2" charset="2"/>
              <a:buChar char="v"/>
            </a:pPr>
            <a:r>
              <a:rPr lang="fr-FR" dirty="0"/>
              <a:t>À </a:t>
            </a:r>
            <a:r>
              <a:rPr lang="fr-FR" b="1" dirty="0"/>
              <a:t>Monsieur VERIZA Roberto Francis</a:t>
            </a:r>
            <a:r>
              <a:rPr lang="fr-FR" dirty="0"/>
              <a:t>, président de l’Université de </a:t>
            </a:r>
            <a:r>
              <a:rPr lang="fr-FR" dirty="0" err="1"/>
              <a:t>Tulear</a:t>
            </a:r>
            <a:r>
              <a:rPr lang="fr-FR" dirty="0"/>
              <a:t>.</a:t>
            </a:r>
          </a:p>
          <a:p>
            <a:pPr marL="171450" indent="-171450">
              <a:buClr>
                <a:schemeClr val="bg2"/>
              </a:buClr>
              <a:buFont typeface="Wingdings" panose="05000000000000000000" pitchFamily="2" charset="2"/>
              <a:buChar char="v"/>
            </a:pPr>
            <a:r>
              <a:rPr lang="fr-FR" dirty="0"/>
              <a:t>À </a:t>
            </a:r>
            <a:r>
              <a:rPr lang="fr-FR" b="1" dirty="0"/>
              <a:t>Monsieur le Docteur MAHATODY Thomas</a:t>
            </a:r>
            <a:r>
              <a:rPr lang="fr-FR" dirty="0"/>
              <a:t>, Directeur de l’École Nationale d’Informatique.</a:t>
            </a:r>
          </a:p>
          <a:p>
            <a:pPr marL="171450" indent="-171450">
              <a:buClr>
                <a:schemeClr val="bg2"/>
              </a:buClr>
              <a:buFont typeface="Wingdings" panose="05000000000000000000" pitchFamily="2" charset="2"/>
              <a:buChar char="v"/>
            </a:pPr>
            <a:r>
              <a:rPr lang="fr-FR" dirty="0"/>
              <a:t>À </a:t>
            </a:r>
            <a:r>
              <a:rPr lang="fr-FR" b="1" dirty="0"/>
              <a:t>Monsieur RABETAFIKA Louis </a:t>
            </a:r>
            <a:r>
              <a:rPr lang="fr-FR" b="1" dirty="0" err="1"/>
              <a:t>Haja</a:t>
            </a:r>
            <a:r>
              <a:rPr lang="fr-FR" dirty="0"/>
              <a:t>, Maître de conférences.</a:t>
            </a:r>
          </a:p>
          <a:p>
            <a:pPr marL="171450" indent="-171450">
              <a:buClr>
                <a:schemeClr val="bg2"/>
              </a:buClr>
              <a:buFont typeface="Wingdings" panose="05000000000000000000" pitchFamily="2" charset="2"/>
              <a:buChar char="v"/>
            </a:pPr>
            <a:r>
              <a:rPr lang="fr-FR" dirty="0"/>
              <a:t>À </a:t>
            </a:r>
            <a:r>
              <a:rPr lang="fr-FR" b="1" dirty="0"/>
              <a:t>Monsieur Emmanuel ESTEBAN</a:t>
            </a:r>
            <a:r>
              <a:rPr lang="fr-FR" dirty="0"/>
              <a:t>, Directeur Général de la société SAIM Ltd.</a:t>
            </a:r>
          </a:p>
          <a:p>
            <a:pPr marL="171450" indent="-171450">
              <a:buClr>
                <a:schemeClr val="bg2"/>
              </a:buClr>
              <a:buFont typeface="Wingdings" panose="05000000000000000000" pitchFamily="2" charset="2"/>
              <a:buChar char="v"/>
            </a:pPr>
            <a:r>
              <a:rPr lang="fr-FR" dirty="0"/>
              <a:t>À </a:t>
            </a:r>
            <a:r>
              <a:rPr lang="fr-FR" b="1" dirty="0"/>
              <a:t>tous les membres du jury</a:t>
            </a:r>
            <a:r>
              <a:rPr lang="fr-FR" dirty="0"/>
              <a:t>.</a:t>
            </a:r>
          </a:p>
          <a:p>
            <a:pPr marL="171450" indent="-171450">
              <a:buClr>
                <a:schemeClr val="bg2"/>
              </a:buClr>
              <a:buFont typeface="Wingdings" panose="05000000000000000000" pitchFamily="2" charset="2"/>
              <a:buChar char="v"/>
            </a:pPr>
            <a:r>
              <a:rPr lang="fr-FR" dirty="0"/>
              <a:t>À </a:t>
            </a:r>
            <a:r>
              <a:rPr lang="fr-FR" b="1" dirty="0"/>
              <a:t>tous les enseignants de l’École Nationale d’Informatique</a:t>
            </a:r>
            <a:r>
              <a:rPr lang="fr-FR" dirty="0"/>
              <a:t>.</a:t>
            </a:r>
          </a:p>
          <a:p>
            <a:pPr marL="171450" indent="-171450">
              <a:buClr>
                <a:schemeClr val="bg2"/>
              </a:buClr>
              <a:buFont typeface="Wingdings" panose="05000000000000000000" pitchFamily="2" charset="2"/>
              <a:buChar char="v"/>
            </a:pPr>
            <a:r>
              <a:rPr lang="fr-FR" dirty="0"/>
              <a:t>À </a:t>
            </a:r>
            <a:r>
              <a:rPr lang="fr-FR" b="1" dirty="0"/>
              <a:t>toutes les équipes de la société SAIM Ltd</a:t>
            </a:r>
            <a:r>
              <a:rPr lang="fr-FR" dirty="0"/>
              <a:t>.</a:t>
            </a:r>
          </a:p>
          <a:p>
            <a:pPr marL="0" indent="0">
              <a:buClr>
                <a:schemeClr val="bg2"/>
              </a:buClr>
              <a:buFont typeface="Wingdings" panose="05000000000000000000" pitchFamily="2" charset="2"/>
              <a:buNone/>
            </a:pPr>
            <a:endParaRPr lang="fr-FR" dirty="0"/>
          </a:p>
          <a:p>
            <a:pPr marL="0" indent="0">
              <a:buClr>
                <a:schemeClr val="bg2"/>
              </a:buClr>
              <a:buFont typeface="Wingdings" panose="05000000000000000000" pitchFamily="2" charset="2"/>
              <a:buNone/>
            </a:pPr>
            <a:r>
              <a:rPr lang="fr-FR" dirty="0"/>
              <a:t>Je remercie du fond du cœur a mes parents, les membres de ma famille de m’avoir donner le soutien durant la période de stage</a:t>
            </a:r>
          </a:p>
          <a:p>
            <a:pPr marL="0" indent="0">
              <a:buClr>
                <a:schemeClr val="bg2"/>
              </a:buClr>
              <a:buFont typeface="Wingdings" panose="05000000000000000000" pitchFamily="2" charset="2"/>
              <a:buNone/>
            </a:pPr>
            <a:r>
              <a:rPr lang="fr-FR" dirty="0"/>
              <a:t>Sans oublié  mes collègues qui m’ont beaucoup aidé.</a:t>
            </a:r>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2</a:t>
            </a:fld>
            <a:endParaRPr lang="fr-FR"/>
          </a:p>
        </p:txBody>
      </p:sp>
    </p:spTree>
    <p:extLst>
      <p:ext uri="{BB962C8B-B14F-4D97-AF65-F5344CB8AC3E}">
        <p14:creationId xmlns:p14="http://schemas.microsoft.com/office/powerpoint/2010/main" val="3998745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3200" dirty="0"/>
              <a:t>Durant ces six derniers mois, j’ai effectué mon stage au sein de la société SAIM Ltd,</a:t>
            </a:r>
          </a:p>
          <a:p>
            <a:r>
              <a:rPr lang="fr-FR" sz="3200" dirty="0"/>
              <a:t>où j’ai été amené à concevoir et développer une application </a:t>
            </a:r>
          </a:p>
          <a:p>
            <a:r>
              <a:rPr lang="fr-FR" sz="3200" dirty="0"/>
              <a:t>web pour élaborer des devis, de générer des factures et de gérer des bons de livraison, afin d’optimiser le travail </a:t>
            </a:r>
          </a:p>
          <a:p>
            <a:r>
              <a:rPr lang="fr-FR" sz="3200" dirty="0"/>
              <a:t> et d’avoir un meilleur suivi des opérations.</a:t>
            </a:r>
            <a:endParaRPr lang="fr-FR" sz="1200"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3</a:t>
            </a:fld>
            <a:endParaRPr lang="fr-FR"/>
          </a:p>
        </p:txBody>
      </p:sp>
    </p:spTree>
    <p:extLst>
      <p:ext uri="{BB962C8B-B14F-4D97-AF65-F5344CB8AC3E}">
        <p14:creationId xmlns:p14="http://schemas.microsoft.com/office/powerpoint/2010/main" val="1728824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entrer</a:t>
            </a:r>
            <a:r>
              <a:rPr lang="fr-FR" baseline="0" dirty="0"/>
              <a:t> dans le vif du sujet, nous allons suivre les trois 3 parties suivantes:</a:t>
            </a:r>
          </a:p>
          <a:p>
            <a:endParaRPr lang="fr-FR" baseline="0" dirty="0"/>
          </a:p>
          <a:p>
            <a:r>
              <a:rPr lang="fr-FR" baseline="0" dirty="0"/>
              <a:t>premièrement, nous allons voir la présentation de l’ENI, et celle de la société SAIM Ltd et puis la description du projet.</a:t>
            </a:r>
          </a:p>
          <a:p>
            <a:r>
              <a:rPr lang="fr-FR" baseline="0" dirty="0"/>
              <a:t>Dans la deuxième partie, nous allons focaliser sur  l’analyse et la conception du projet.</a:t>
            </a:r>
          </a:p>
          <a:p>
            <a:r>
              <a:rPr lang="fr-FR" baseline="0" dirty="0"/>
              <a:t>Et enfin, nous allons passer par la démonstration et pour finir  la conclusion.</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4</a:t>
            </a:fld>
            <a:endParaRPr lang="fr-FR"/>
          </a:p>
        </p:txBody>
      </p:sp>
    </p:spTree>
    <p:extLst>
      <p:ext uri="{BB962C8B-B14F-4D97-AF65-F5344CB8AC3E}">
        <p14:creationId xmlns:p14="http://schemas.microsoft.com/office/powerpoint/2010/main" val="373364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5</a:t>
            </a:fld>
            <a:endParaRPr lang="fr-FR"/>
          </a:p>
        </p:txBody>
      </p:sp>
    </p:spTree>
    <p:extLst>
      <p:ext uri="{BB962C8B-B14F-4D97-AF65-F5344CB8AC3E}">
        <p14:creationId xmlns:p14="http://schemas.microsoft.com/office/powerpoint/2010/main" val="837201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strike="noStrike" spc="-1" dirty="0">
                <a:solidFill>
                  <a:srgbClr val="000000"/>
                </a:solidFill>
                <a:uFill>
                  <a:solidFill>
                    <a:srgbClr val="FFFFFF"/>
                  </a:solidFill>
                </a:uFill>
                <a:latin typeface="+mn-lt"/>
                <a:ea typeface="+mn-ea"/>
              </a:rPr>
              <a:t>Tout d’abord nous allons voir la présentation de l’ENI :</a:t>
            </a:r>
            <a:endParaRPr lang="fr-FR" sz="1200" b="0" strike="noStrike" spc="-1" dirty="0">
              <a:solidFill>
                <a:srgbClr val="000000"/>
              </a:solidFill>
              <a:uFill>
                <a:solidFill>
                  <a:srgbClr val="FFFFFF"/>
                </a:solidFill>
              </a:uFill>
              <a:latin typeface="Arial"/>
            </a:endParaRPr>
          </a:p>
          <a:p>
            <a:r>
              <a:rPr lang="fr-FR" sz="1200" b="0" strike="noStrike" spc="-1" dirty="0">
                <a:solidFill>
                  <a:srgbClr val="000000"/>
                </a:solidFill>
                <a:uFill>
                  <a:solidFill>
                    <a:srgbClr val="FFFFFF"/>
                  </a:solidFill>
                </a:uFill>
                <a:latin typeface="+mn-lt"/>
                <a:ea typeface="+mn-ea"/>
              </a:rPr>
              <a:t>L’Ecole Nationale d’Informatique est  en abrégé ENI, il est rattaché académiquement et administrativement à l’Université de Fianarantsoa.</a:t>
            </a:r>
          </a:p>
          <a:p>
            <a:r>
              <a:rPr lang="fr-FR" sz="1200" b="0" strike="noStrike" spc="-1" dirty="0">
                <a:solidFill>
                  <a:srgbClr val="000000"/>
                </a:solidFill>
                <a:uFill>
                  <a:solidFill>
                    <a:srgbClr val="FFFFFF"/>
                  </a:solidFill>
                </a:uFill>
                <a:latin typeface="+mn-lt"/>
                <a:ea typeface="+mn-ea"/>
              </a:rPr>
              <a:t>Il a été créé le 24 Mai 1983</a:t>
            </a:r>
            <a:endParaRPr lang="fr-FR" sz="1200" b="0" strike="noStrike" spc="-1" dirty="0">
              <a:solidFill>
                <a:srgbClr val="000000"/>
              </a:solidFill>
              <a:uFill>
                <a:solidFill>
                  <a:srgbClr val="FFFFFF"/>
                </a:solidFill>
              </a:uFill>
              <a:latin typeface="Arial"/>
            </a:endParaRPr>
          </a:p>
          <a:p>
            <a:r>
              <a:rPr lang="fr-FR" sz="2000" b="0" strike="noStrike" spc="-1" dirty="0">
                <a:solidFill>
                  <a:srgbClr val="000000"/>
                </a:solidFill>
                <a:uFill>
                  <a:solidFill>
                    <a:srgbClr val="FFFFFF"/>
                  </a:solidFill>
                </a:uFill>
                <a:latin typeface="+mn-lt"/>
                <a:ea typeface="+mn-ea"/>
              </a:rPr>
              <a:t>il est situe à Tanambao Antaninarenina Fianarantsoa </a:t>
            </a:r>
          </a:p>
          <a:p>
            <a:r>
              <a:rPr lang="fr-FR" sz="2000" b="0" strike="noStrike" spc="-1" dirty="0">
                <a:solidFill>
                  <a:srgbClr val="000000"/>
                </a:solidFill>
                <a:uFill>
                  <a:solidFill>
                    <a:srgbClr val="FFFFFF"/>
                  </a:solidFill>
                </a:uFill>
                <a:latin typeface="+mn-lt"/>
                <a:ea typeface="+mn-ea"/>
              </a:rPr>
              <a:t>Sa  mission est de former des informaticiens de haut niveau.</a:t>
            </a:r>
            <a:endParaRPr lang="fr-FR" sz="2000" b="0" strike="noStrike" spc="-1" dirty="0">
              <a:solidFill>
                <a:srgbClr val="000000"/>
              </a:solidFill>
              <a:uFill>
                <a:solidFill>
                  <a:srgbClr val="FFFFFF"/>
                </a:solidFill>
              </a:uFill>
              <a:latin typeface="Arial"/>
            </a:endParaRPr>
          </a:p>
          <a:p>
            <a:r>
              <a:rPr lang="fr-FR" sz="1200" b="0" strike="noStrike" spc="-1" dirty="0">
                <a:solidFill>
                  <a:srgbClr val="000000"/>
                </a:solidFill>
                <a:uFill>
                  <a:solidFill>
                    <a:srgbClr val="FFFFFF"/>
                  </a:solidFill>
                </a:uFill>
                <a:latin typeface="+mn-lt"/>
                <a:ea typeface="+mn-ea"/>
              </a:rPr>
              <a:t>Sa domaines de spécialisations sont les suivants :</a:t>
            </a:r>
            <a:endParaRPr lang="fr-FR" sz="1200" b="0" strike="noStrike" spc="-1" dirty="0">
              <a:solidFill>
                <a:srgbClr val="000000"/>
              </a:solidFill>
              <a:uFill>
                <a:solidFill>
                  <a:srgbClr val="FFFFFF"/>
                </a:solidFill>
              </a:uFill>
              <a:latin typeface="Arial"/>
            </a:endParaRPr>
          </a:p>
          <a:p>
            <a:pPr marL="216000" indent="-216000" algn="just">
              <a:lnSpc>
                <a:spcPct val="100000"/>
              </a:lnSpc>
              <a:spcBef>
                <a:spcPts val="1001"/>
              </a:spcBef>
            </a:pPr>
            <a:r>
              <a:rPr lang="fr-FR" sz="1200" b="0" strike="noStrike" spc="-1" dirty="0">
                <a:solidFill>
                  <a:srgbClr val="000000"/>
                </a:solidFill>
                <a:uFill>
                  <a:solidFill>
                    <a:srgbClr val="FFFFFF"/>
                  </a:solidFill>
                </a:uFill>
                <a:latin typeface="+mn-lt"/>
                <a:ea typeface="Times New Roman"/>
              </a:rPr>
              <a:t>	- Génie logiciel et Base de Données</a:t>
            </a:r>
            <a:endParaRPr lang="fr-FR" sz="1200" b="0" strike="noStrike" spc="-1" dirty="0">
              <a:solidFill>
                <a:srgbClr val="000000"/>
              </a:solidFill>
              <a:uFill>
                <a:solidFill>
                  <a:srgbClr val="FFFFFF"/>
                </a:solidFill>
              </a:uFill>
              <a:latin typeface="Arial"/>
            </a:endParaRPr>
          </a:p>
          <a:p>
            <a:pPr marL="216000" indent="-216000" algn="just">
              <a:lnSpc>
                <a:spcPct val="100000"/>
              </a:lnSpc>
              <a:spcBef>
                <a:spcPts val="1001"/>
              </a:spcBef>
            </a:pPr>
            <a:r>
              <a:rPr lang="fr-FR" sz="1200" b="0" strike="noStrike" spc="-1" dirty="0">
                <a:solidFill>
                  <a:srgbClr val="000000"/>
                </a:solidFill>
                <a:uFill>
                  <a:solidFill>
                    <a:srgbClr val="FFFFFF"/>
                  </a:solidFill>
                </a:uFill>
                <a:latin typeface="+mn-lt"/>
                <a:ea typeface="Times New Roman"/>
              </a:rPr>
              <a:t>	- Administration des Systèmes et Réseaux</a:t>
            </a:r>
            <a:endParaRPr lang="fr-FR" sz="1200" b="0" strike="noStrike" spc="-1" dirty="0">
              <a:solidFill>
                <a:srgbClr val="000000"/>
              </a:solidFill>
              <a:uFill>
                <a:solidFill>
                  <a:srgbClr val="FFFFFF"/>
                </a:solidFill>
              </a:uFill>
              <a:latin typeface="Arial"/>
            </a:endParaRPr>
          </a:p>
          <a:p>
            <a:pPr marL="216000" indent="-216000" algn="just">
              <a:lnSpc>
                <a:spcPct val="100000"/>
              </a:lnSpc>
              <a:spcBef>
                <a:spcPts val="1001"/>
              </a:spcBef>
            </a:pPr>
            <a:r>
              <a:rPr lang="fr-FR" sz="1200" b="0" strike="noStrike" spc="-1" dirty="0">
                <a:solidFill>
                  <a:srgbClr val="000000"/>
                </a:solidFill>
                <a:uFill>
                  <a:solidFill>
                    <a:srgbClr val="FFFFFF"/>
                  </a:solidFill>
                </a:uFill>
                <a:latin typeface="+mn-lt"/>
                <a:ea typeface="Times New Roman"/>
              </a:rPr>
              <a:t>	- Informatique Générale</a:t>
            </a:r>
            <a:endParaRPr lang="fr-FR" sz="1200" b="0" strike="noStrike" spc="-1" dirty="0">
              <a:solidFill>
                <a:srgbClr val="000000"/>
              </a:solidFill>
              <a:uFill>
                <a:solidFill>
                  <a:srgbClr val="FFFFFF"/>
                </a:solidFill>
              </a:uFill>
              <a:latin typeface="Arial"/>
            </a:endParaRPr>
          </a:p>
          <a:p>
            <a:pPr marL="216000" indent="-216000" algn="just">
              <a:lnSpc>
                <a:spcPct val="100000"/>
              </a:lnSpc>
              <a:spcBef>
                <a:spcPts val="1001"/>
              </a:spcBef>
            </a:pPr>
            <a:r>
              <a:rPr lang="fr-FR" sz="1200" b="0" strike="noStrike" spc="-1" dirty="0">
                <a:solidFill>
                  <a:srgbClr val="000000"/>
                </a:solidFill>
                <a:uFill>
                  <a:solidFill>
                    <a:srgbClr val="FFFFFF"/>
                  </a:solidFill>
                </a:uFill>
                <a:latin typeface="+mn-lt"/>
                <a:ea typeface="Times New Roman"/>
              </a:rPr>
              <a:t>	- Modélisation informatique et mathématique des Systèmes complexes.</a:t>
            </a:r>
            <a:endParaRPr lang="fr-FR" sz="1200" b="0" strike="noStrike" spc="-1" dirty="0">
              <a:solidFill>
                <a:srgbClr val="000000"/>
              </a:solidFill>
              <a:uFill>
                <a:solidFill>
                  <a:srgbClr val="FFFFFF"/>
                </a:solidFill>
              </a:uFill>
              <a:latin typeface="Arial"/>
            </a:endParaRPr>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6</a:t>
            </a:fld>
            <a:endParaRPr lang="fr-FR"/>
          </a:p>
        </p:txBody>
      </p:sp>
    </p:spTree>
    <p:extLst>
      <p:ext uri="{BB962C8B-B14F-4D97-AF65-F5344CB8AC3E}">
        <p14:creationId xmlns:p14="http://schemas.microsoft.com/office/powerpoint/2010/main" val="4236972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Voici l’organigramme de l’ENI </a:t>
            </a:r>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7</a:t>
            </a:fld>
            <a:endParaRPr lang="fr-FR"/>
          </a:p>
        </p:txBody>
      </p:sp>
    </p:spTree>
    <p:extLst>
      <p:ext uri="{BB962C8B-B14F-4D97-AF65-F5344CB8AC3E}">
        <p14:creationId xmlns:p14="http://schemas.microsoft.com/office/powerpoint/2010/main" val="4061472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457920" lvl="1" indent="0">
              <a:lnSpc>
                <a:spcPct val="120000"/>
              </a:lnSpc>
              <a:spcBef>
                <a:spcPts val="1001"/>
              </a:spcBef>
              <a:spcAft>
                <a:spcPts val="1199"/>
              </a:spcAft>
              <a:buClr>
                <a:srgbClr val="A53010"/>
              </a:buClr>
              <a:buFont typeface="Wingdings" panose="05000000000000000000" pitchFamily="2" charset="2"/>
              <a:buNone/>
            </a:pPr>
            <a:r>
              <a:rPr lang="fr-FR" spc="-1" dirty="0">
                <a:solidFill>
                  <a:srgbClr val="000000"/>
                </a:solidFill>
                <a:uFill>
                  <a:solidFill>
                    <a:srgbClr val="FFFFFF"/>
                  </a:solidFill>
                </a:uFill>
                <a:latin typeface="Times New Roman" panose="02020603050405020304" pitchFamily="18" charset="0"/>
                <a:cs typeface="Times New Roman" panose="02020603050405020304" pitchFamily="18" charset="0"/>
              </a:rPr>
              <a:t>Software </a:t>
            </a:r>
            <a:r>
              <a:rPr lang="fr-FR" spc="-1" dirty="0" err="1">
                <a:solidFill>
                  <a:srgbClr val="000000"/>
                </a:solidFill>
                <a:uFill>
                  <a:solidFill>
                    <a:srgbClr val="FFFFFF"/>
                  </a:solidFill>
                </a:uFill>
                <a:latin typeface="Times New Roman" panose="02020603050405020304" pitchFamily="18" charset="0"/>
                <a:cs typeface="Times New Roman" panose="02020603050405020304" pitchFamily="18" charset="0"/>
              </a:rPr>
              <a:t>Activities</a:t>
            </a:r>
            <a:r>
              <a:rPr lang="fr-FR" spc="-1" dirty="0">
                <a:solidFill>
                  <a:srgbClr val="000000"/>
                </a:solidFill>
                <a:uFill>
                  <a:solidFill>
                    <a:srgbClr val="FFFFFF"/>
                  </a:solidFill>
                </a:uFill>
                <a:latin typeface="Times New Roman" panose="02020603050405020304" pitchFamily="18" charset="0"/>
                <a:cs typeface="Times New Roman" panose="02020603050405020304" pitchFamily="18" charset="0"/>
              </a:rPr>
              <a:t>  and Images Management Limited est </a:t>
            </a:r>
            <a:r>
              <a:rPr lang="fr-FR" spc="-1" dirty="0" err="1">
                <a:solidFill>
                  <a:srgbClr val="000000"/>
                </a:solidFill>
                <a:uFill>
                  <a:solidFill>
                    <a:srgbClr val="FFFFFF"/>
                  </a:solidFill>
                </a:uFill>
                <a:latin typeface="Times New Roman" panose="02020603050405020304" pitchFamily="18" charset="0"/>
                <a:cs typeface="Times New Roman" panose="02020603050405020304" pitchFamily="18" charset="0"/>
              </a:rPr>
              <a:t>abreger</a:t>
            </a:r>
            <a:r>
              <a:rPr lang="fr-FR" spc="-1" dirty="0">
                <a:solidFill>
                  <a:srgbClr val="000000"/>
                </a:solidFill>
                <a:uFill>
                  <a:solidFill>
                    <a:srgbClr val="FFFFFF"/>
                  </a:solidFill>
                </a:uFill>
                <a:latin typeface="Times New Roman" panose="02020603050405020304" pitchFamily="18" charset="0"/>
                <a:cs typeface="Times New Roman" panose="02020603050405020304" pitchFamily="18" charset="0"/>
              </a:rPr>
              <a:t> en SAIM Ltd </a:t>
            </a:r>
            <a:br>
              <a:rPr lang="fr-FR" spc="-1" dirty="0">
                <a:solidFill>
                  <a:srgbClr val="000000"/>
                </a:solidFill>
                <a:uFill>
                  <a:solidFill>
                    <a:srgbClr val="FFFFFF"/>
                  </a:solidFill>
                </a:uFill>
                <a:latin typeface="Times New Roman" panose="02020603050405020304" pitchFamily="18" charset="0"/>
                <a:cs typeface="Times New Roman" panose="02020603050405020304" pitchFamily="18" charset="0"/>
              </a:rPr>
            </a:br>
            <a:r>
              <a:rPr lang="fr-FR" spc="-1" dirty="0">
                <a:solidFill>
                  <a:srgbClr val="000000"/>
                </a:solidFill>
                <a:uFill>
                  <a:solidFill>
                    <a:srgbClr val="FFFFFF"/>
                  </a:solidFill>
                </a:uFill>
                <a:latin typeface="Times New Roman" panose="02020603050405020304" pitchFamily="18" charset="0"/>
                <a:cs typeface="Times New Roman" panose="02020603050405020304" pitchFamily="18" charset="0"/>
              </a:rPr>
              <a:t>il a été crée en </a:t>
            </a:r>
            <a:r>
              <a:rPr lang="fr-FR"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rPr>
              <a:t> Novembre 2002 </a:t>
            </a:r>
          </a:p>
          <a:p>
            <a:endParaRPr lang="fr-FR" sz="1200" b="0" strike="noStrike" spc="-1" dirty="0">
              <a:solidFill>
                <a:srgbClr val="000000"/>
              </a:solidFill>
              <a:uFill>
                <a:solidFill>
                  <a:srgbClr val="FFFFFF"/>
                </a:solidFill>
              </a:uFill>
              <a:latin typeface="+mn-lt"/>
              <a:ea typeface="+mn-ea"/>
            </a:endParaRPr>
          </a:p>
          <a:p>
            <a:r>
              <a:rPr lang="fr-FR" sz="1200" b="0" strike="noStrike" spc="-1" dirty="0">
                <a:solidFill>
                  <a:srgbClr val="000000"/>
                </a:solidFill>
                <a:uFill>
                  <a:solidFill>
                    <a:srgbClr val="FFFFFF"/>
                  </a:solidFill>
                </a:uFill>
                <a:latin typeface="+mn-lt"/>
                <a:ea typeface="+mn-ea"/>
              </a:rPr>
              <a:t>Il a pour objectif : </a:t>
            </a:r>
          </a:p>
          <a:p>
            <a:r>
              <a:rPr lang="fr-FR" sz="1200" b="0" strike="noStrike" spc="-1" dirty="0">
                <a:solidFill>
                  <a:srgbClr val="000000"/>
                </a:solidFill>
                <a:uFill>
                  <a:solidFill>
                    <a:srgbClr val="FFFFFF"/>
                  </a:solidFill>
                </a:uFill>
                <a:latin typeface="+mn-lt"/>
                <a:ea typeface="+mn-ea"/>
              </a:rPr>
              <a:t> d’acheter</a:t>
            </a:r>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8</a:t>
            </a:fld>
            <a:endParaRPr lang="fr-FR"/>
          </a:p>
        </p:txBody>
      </p:sp>
    </p:spTree>
    <p:extLst>
      <p:ext uri="{BB962C8B-B14F-4D97-AF65-F5344CB8AC3E}">
        <p14:creationId xmlns:p14="http://schemas.microsoft.com/office/powerpoint/2010/main" val="580910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Voici l’organigramme de la société S2M</a:t>
            </a:r>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9</a:t>
            </a:fld>
            <a:endParaRPr lang="fr-FR"/>
          </a:p>
        </p:txBody>
      </p:sp>
    </p:spTree>
    <p:extLst>
      <p:ext uri="{BB962C8B-B14F-4D97-AF65-F5344CB8AC3E}">
        <p14:creationId xmlns:p14="http://schemas.microsoft.com/office/powerpoint/2010/main" val="1774336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endParaRPr lang="fr-FR" dirty="0"/>
          </a:p>
          <a:p>
            <a:r>
              <a:rPr lang="fr-FR" dirty="0"/>
              <a:t>Ce projet a pour but de ….</a:t>
            </a:r>
            <a:br>
              <a:rPr lang="fr-FR" dirty="0"/>
            </a:br>
            <a:br>
              <a:rPr lang="fr-FR" dirty="0"/>
            </a:br>
            <a:r>
              <a:rPr lang="fr-FR" dirty="0"/>
              <a:t>Et les besoins des utilisateurs  sont les suivant </a:t>
            </a:r>
            <a:br>
              <a:rPr lang="fr-FR" dirty="0"/>
            </a:br>
            <a:br>
              <a:rPr lang="fr-FR" dirty="0"/>
            </a:br>
            <a:r>
              <a:rPr lang="fr-FR" dirty="0"/>
              <a:t>L’application permet a l’utilisateur de </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10</a:t>
            </a:fld>
            <a:endParaRPr lang="fr-FR"/>
          </a:p>
        </p:txBody>
      </p:sp>
    </p:spTree>
    <p:extLst>
      <p:ext uri="{BB962C8B-B14F-4D97-AF65-F5344CB8AC3E}">
        <p14:creationId xmlns:p14="http://schemas.microsoft.com/office/powerpoint/2010/main" val="3527619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11</a:t>
            </a:fld>
            <a:endParaRPr lang="fr-FR"/>
          </a:p>
        </p:txBody>
      </p:sp>
    </p:spTree>
    <p:extLst>
      <p:ext uri="{BB962C8B-B14F-4D97-AF65-F5344CB8AC3E}">
        <p14:creationId xmlns:p14="http://schemas.microsoft.com/office/powerpoint/2010/main" val="4252345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722313" indent="-273050" algn="just">
              <a:lnSpc>
                <a:spcPct val="120000"/>
              </a:lnSpc>
              <a:spcBef>
                <a:spcPts val="1001"/>
              </a:spcBef>
              <a:buFont typeface="Wingdings" panose="05000000000000000000" pitchFamily="2" charset="2"/>
              <a:buChar char="Ø"/>
            </a:pPr>
            <a:r>
              <a:rPr lang="fr-FR" dirty="0"/>
              <a:t>Apres l’analyse  de ce projet , nous avons constater que </a:t>
            </a:r>
            <a:r>
              <a:rPr lang="fr-FR" dirty="0">
                <a:latin typeface="Times New Roman" panose="02020603050405020304" pitchFamily="18" charset="0"/>
                <a:cs typeface="Times New Roman" panose="02020603050405020304" pitchFamily="18" charset="0"/>
              </a:rPr>
              <a:t>L'élaboration de devis se fait à l'aide d'un cahier, et le client peut attendre jusqu'à une journée pour recevoir le devis</a:t>
            </a:r>
          </a:p>
          <a:p>
            <a:pPr marL="449263" indent="0" algn="just">
              <a:lnSpc>
                <a:spcPct val="120000"/>
              </a:lnSpc>
              <a:spcBef>
                <a:spcPts val="1001"/>
              </a:spcBef>
              <a:buFont typeface="Wingdings" panose="05000000000000000000" pitchFamily="2" charset="2"/>
              <a:buNone/>
            </a:pPr>
            <a:r>
              <a:rPr lang="fr-FR" sz="1200" spc="-1" dirty="0">
                <a:solidFill>
                  <a:srgbClr val="000000"/>
                </a:solidFill>
                <a:uFill>
                  <a:solidFill>
                    <a:srgbClr val="FFFFFF"/>
                  </a:solidFill>
                </a:uFill>
                <a:latin typeface="Times New Roman" panose="02020603050405020304" pitchFamily="18" charset="0"/>
                <a:cs typeface="Times New Roman" panose="02020603050405020304" pitchFamily="18" charset="0"/>
              </a:rPr>
              <a:t>Et leur Base de données  sont non centralisé</a:t>
            </a:r>
          </a:p>
          <a:p>
            <a:endParaRPr lang="fr-FR" dirty="0"/>
          </a:p>
          <a:p>
            <a:r>
              <a:rPr lang="fr-FR" dirty="0"/>
              <a:t>Face a ce problème, deux solutions ont été proposées :</a:t>
            </a:r>
          </a:p>
          <a:p>
            <a:r>
              <a:rPr lang="fr-FR" dirty="0" err="1"/>
              <a:t>Mamaky</a:t>
            </a:r>
            <a:r>
              <a:rPr lang="fr-FR" dirty="0"/>
              <a:t> </a:t>
            </a:r>
            <a:r>
              <a:rPr lang="fr-FR" dirty="0" err="1"/>
              <a:t>problenme</a:t>
            </a:r>
            <a:endParaRPr lang="fr-FR" dirty="0"/>
          </a:p>
          <a:p>
            <a:r>
              <a:rPr lang="fr-FR" dirty="0"/>
              <a:t>Parmi les solutions proposées , la solution 2 ont été choisit</a:t>
            </a:r>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12</a:t>
            </a:fld>
            <a:endParaRPr lang="fr-FR"/>
          </a:p>
        </p:txBody>
      </p:sp>
    </p:spTree>
    <p:extLst>
      <p:ext uri="{BB962C8B-B14F-4D97-AF65-F5344CB8AC3E}">
        <p14:creationId xmlns:p14="http://schemas.microsoft.com/office/powerpoint/2010/main" val="3139189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strike="noStrike" spc="-1" dirty="0">
                <a:solidFill>
                  <a:srgbClr val="000000"/>
                </a:solidFill>
                <a:uFill>
                  <a:solidFill>
                    <a:srgbClr val="FFFFFF"/>
                  </a:solidFill>
                </a:uFill>
                <a:latin typeface="+mn-lt"/>
                <a:ea typeface="+mn-ea"/>
              </a:rPr>
              <a:t>Pour </a:t>
            </a:r>
            <a:r>
              <a:rPr lang="fr-FR" sz="1200" b="0" strike="noStrike" spc="-1" dirty="0" err="1">
                <a:solidFill>
                  <a:srgbClr val="000000"/>
                </a:solidFill>
                <a:uFill>
                  <a:solidFill>
                    <a:srgbClr val="FFFFFF"/>
                  </a:solidFill>
                </a:uFill>
                <a:latin typeface="+mn-lt"/>
                <a:ea typeface="+mn-ea"/>
              </a:rPr>
              <a:t>realiser</a:t>
            </a:r>
            <a:r>
              <a:rPr lang="fr-FR" sz="1200" b="0" strike="noStrike" spc="-1" dirty="0">
                <a:solidFill>
                  <a:srgbClr val="000000"/>
                </a:solidFill>
                <a:uFill>
                  <a:solidFill>
                    <a:srgbClr val="FFFFFF"/>
                  </a:solidFill>
                </a:uFill>
                <a:latin typeface="+mn-lt"/>
                <a:ea typeface="+mn-ea"/>
              </a:rPr>
              <a:t> la solution 2 , </a:t>
            </a:r>
          </a:p>
          <a:p>
            <a:endParaRPr lang="fr-FR" sz="1200" b="0" strike="noStrike" spc="-1" dirty="0">
              <a:solidFill>
                <a:srgbClr val="000000"/>
              </a:solidFill>
              <a:uFill>
                <a:solidFill>
                  <a:srgbClr val="FFFFFF"/>
                </a:solidFill>
              </a:uFill>
              <a:latin typeface="+mn-lt"/>
              <a:ea typeface="+mn-ea"/>
            </a:endParaRPr>
          </a:p>
          <a:p>
            <a:r>
              <a:rPr lang="fr-FR" sz="1200" b="0" strike="noStrike" spc="-1" dirty="0">
                <a:solidFill>
                  <a:srgbClr val="000000"/>
                </a:solidFill>
                <a:uFill>
                  <a:solidFill>
                    <a:srgbClr val="FFFFFF"/>
                  </a:solidFill>
                </a:uFill>
                <a:latin typeface="+mn-lt"/>
                <a:ea typeface="+mn-ea"/>
              </a:rPr>
              <a:t>La </a:t>
            </a:r>
            <a:r>
              <a:rPr lang="fr-FR" sz="1200" b="0" strike="noStrike" spc="-1" dirty="0" err="1">
                <a:solidFill>
                  <a:srgbClr val="000000"/>
                </a:solidFill>
                <a:uFill>
                  <a:solidFill>
                    <a:srgbClr val="FFFFFF"/>
                  </a:solidFill>
                </a:uFill>
                <a:latin typeface="+mn-lt"/>
                <a:ea typeface="+mn-ea"/>
              </a:rPr>
              <a:t>methode</a:t>
            </a:r>
            <a:r>
              <a:rPr lang="fr-FR" sz="1200" b="0" strike="noStrike" spc="-1" dirty="0">
                <a:solidFill>
                  <a:srgbClr val="000000"/>
                </a:solidFill>
                <a:uFill>
                  <a:solidFill>
                    <a:srgbClr val="FFFFFF"/>
                  </a:solidFill>
                </a:uFill>
                <a:latin typeface="+mn-lt"/>
                <a:ea typeface="+mn-ea"/>
              </a:rPr>
              <a:t> et les outils suivant ont été utilisé:</a:t>
            </a:r>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13</a:t>
            </a:fld>
            <a:endParaRPr lang="fr-FR"/>
          </a:p>
        </p:txBody>
      </p:sp>
    </p:spTree>
    <p:extLst>
      <p:ext uri="{BB962C8B-B14F-4D97-AF65-F5344CB8AC3E}">
        <p14:creationId xmlns:p14="http://schemas.microsoft.com/office/powerpoint/2010/main" val="2624840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strike="noStrike" spc="-1" dirty="0">
                <a:solidFill>
                  <a:srgbClr val="000000"/>
                </a:solidFill>
                <a:uFill>
                  <a:solidFill>
                    <a:srgbClr val="FFFFFF"/>
                  </a:solidFill>
                </a:uFill>
                <a:latin typeface="+mn-lt"/>
                <a:ea typeface="+mn-ea"/>
              </a:rPr>
              <a:t>Voici le digramme de classe globale :</a:t>
            </a:r>
          </a:p>
          <a:p>
            <a:endParaRPr lang="fr-FR" sz="1200" b="0" strike="noStrike" spc="-1" dirty="0">
              <a:solidFill>
                <a:srgbClr val="000000"/>
              </a:solidFill>
              <a:uFill>
                <a:solidFill>
                  <a:srgbClr val="FFFFFF"/>
                </a:solidFill>
              </a:uFill>
              <a:latin typeface="+mn-lt"/>
              <a:ea typeface="+mn-ea"/>
            </a:endParaRPr>
          </a:p>
          <a:p>
            <a:endParaRPr lang="fr-FR" sz="1200" b="0" strike="noStrike" spc="-1" dirty="0">
              <a:solidFill>
                <a:srgbClr val="000000"/>
              </a:solidFill>
              <a:uFill>
                <a:solidFill>
                  <a:srgbClr val="FFFFFF"/>
                </a:solidFill>
              </a:uFill>
              <a:latin typeface="+mn-lt"/>
              <a:ea typeface="+mn-ea"/>
            </a:endParaRPr>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14</a:t>
            </a:fld>
            <a:endParaRPr lang="fr-FR"/>
          </a:p>
        </p:txBody>
      </p:sp>
    </p:spTree>
    <p:extLst>
      <p:ext uri="{BB962C8B-B14F-4D97-AF65-F5344CB8AC3E}">
        <p14:creationId xmlns:p14="http://schemas.microsoft.com/office/powerpoint/2010/main" val="38692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strike="noStrike" spc="-1" dirty="0">
                <a:solidFill>
                  <a:srgbClr val="000000"/>
                </a:solidFill>
                <a:uFill>
                  <a:solidFill>
                    <a:srgbClr val="FFFFFF"/>
                  </a:solidFill>
                </a:uFill>
                <a:latin typeface="+mn-lt"/>
                <a:ea typeface="+mn-ea"/>
              </a:rPr>
              <a:t>L’application utilise l’architecture MVC pour fonctionner</a:t>
            </a:r>
          </a:p>
          <a:p>
            <a:endParaRPr lang="fr-FR" sz="1200" b="0" strike="noStrike" spc="-1" dirty="0">
              <a:solidFill>
                <a:srgbClr val="000000"/>
              </a:solidFill>
              <a:uFill>
                <a:solidFill>
                  <a:srgbClr val="FFFFFF"/>
                </a:solidFill>
              </a:uFill>
              <a:latin typeface="+mn-lt"/>
              <a:ea typeface="+mn-ea"/>
            </a:endParaRPr>
          </a:p>
          <a:p>
            <a:r>
              <a:rPr lang="fr-FR" sz="1200" b="0" strike="noStrike" spc="-1" dirty="0">
                <a:solidFill>
                  <a:srgbClr val="000000"/>
                </a:solidFill>
                <a:uFill>
                  <a:solidFill>
                    <a:srgbClr val="FFFFFF"/>
                  </a:solidFill>
                </a:uFill>
                <a:latin typeface="+mn-lt"/>
                <a:ea typeface="+mn-ea"/>
              </a:rPr>
              <a:t>Dont , la vue , le </a:t>
            </a:r>
            <a:r>
              <a:rPr lang="fr-FR" sz="1200" b="0" strike="noStrike" spc="-1" dirty="0" err="1">
                <a:solidFill>
                  <a:srgbClr val="000000"/>
                </a:solidFill>
                <a:uFill>
                  <a:solidFill>
                    <a:srgbClr val="FFFFFF"/>
                  </a:solidFill>
                </a:uFill>
                <a:latin typeface="+mn-lt"/>
                <a:ea typeface="+mn-ea"/>
              </a:rPr>
              <a:t>modele</a:t>
            </a:r>
            <a:r>
              <a:rPr lang="fr-FR" sz="1200" b="0" strike="noStrike" spc="-1" dirty="0">
                <a:solidFill>
                  <a:srgbClr val="000000"/>
                </a:solidFill>
                <a:uFill>
                  <a:solidFill>
                    <a:srgbClr val="FFFFFF"/>
                  </a:solidFill>
                </a:uFill>
                <a:latin typeface="+mn-lt"/>
                <a:ea typeface="+mn-ea"/>
              </a:rPr>
              <a:t> et le </a:t>
            </a:r>
            <a:r>
              <a:rPr lang="fr-FR" sz="1200" b="0" strike="noStrike" spc="-1" dirty="0" err="1">
                <a:solidFill>
                  <a:srgbClr val="000000"/>
                </a:solidFill>
                <a:uFill>
                  <a:solidFill>
                    <a:srgbClr val="FFFFFF"/>
                  </a:solidFill>
                </a:uFill>
                <a:latin typeface="+mn-lt"/>
                <a:ea typeface="+mn-ea"/>
              </a:rPr>
              <a:t>controlleur</a:t>
            </a:r>
            <a:r>
              <a:rPr lang="fr-FR" sz="1200" b="0" strike="noStrike" spc="-1" dirty="0">
                <a:solidFill>
                  <a:srgbClr val="000000"/>
                </a:solidFill>
                <a:uFill>
                  <a:solidFill>
                    <a:srgbClr val="FFFFFF"/>
                  </a:solidFill>
                </a:uFill>
                <a:latin typeface="+mn-lt"/>
                <a:ea typeface="+mn-ea"/>
              </a:rPr>
              <a:t> sont </a:t>
            </a:r>
            <a:r>
              <a:rPr lang="fr-FR" sz="1200" b="0" strike="noStrike" spc="-1" dirty="0" err="1">
                <a:solidFill>
                  <a:srgbClr val="000000"/>
                </a:solidFill>
                <a:uFill>
                  <a:solidFill>
                    <a:srgbClr val="FFFFFF"/>
                  </a:solidFill>
                </a:uFill>
                <a:latin typeface="+mn-lt"/>
                <a:ea typeface="+mn-ea"/>
              </a:rPr>
              <a:t>separer</a:t>
            </a:r>
            <a:endParaRPr lang="fr-FR" sz="1200" b="0" strike="noStrike" spc="-1" dirty="0">
              <a:solidFill>
                <a:srgbClr val="000000"/>
              </a:solidFill>
              <a:uFill>
                <a:solidFill>
                  <a:srgbClr val="FFFFFF"/>
                </a:solidFill>
              </a:uFill>
              <a:latin typeface="+mn-lt"/>
              <a:ea typeface="+mn-ea"/>
            </a:endParaRPr>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15</a:t>
            </a:fld>
            <a:endParaRPr lang="fr-FR"/>
          </a:p>
        </p:txBody>
      </p:sp>
    </p:spTree>
    <p:extLst>
      <p:ext uri="{BB962C8B-B14F-4D97-AF65-F5344CB8AC3E}">
        <p14:creationId xmlns:p14="http://schemas.microsoft.com/office/powerpoint/2010/main" val="2720946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16</a:t>
            </a:fld>
            <a:endParaRPr lang="fr-FR"/>
          </a:p>
        </p:txBody>
      </p:sp>
    </p:spTree>
    <p:extLst>
      <p:ext uri="{BB962C8B-B14F-4D97-AF65-F5344CB8AC3E}">
        <p14:creationId xmlns:p14="http://schemas.microsoft.com/office/powerpoint/2010/main" val="4259957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Sans plus tardé</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a:t>nous allons faire la </a:t>
            </a:r>
            <a:r>
              <a:rPr lang="fr-FR" baseline="0" dirty="0" err="1"/>
              <a:t>demonstration</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17</a:t>
            </a:fld>
            <a:endParaRPr lang="fr-FR"/>
          </a:p>
        </p:txBody>
      </p:sp>
    </p:spTree>
    <p:extLst>
      <p:ext uri="{BB962C8B-B14F-4D97-AF65-F5344CB8AC3E}">
        <p14:creationId xmlns:p14="http://schemas.microsoft.com/office/powerpoint/2010/main" val="244210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br>
              <a:rPr lang="fr-FR" sz="1800" dirty="0">
                <a:effectLst/>
                <a:latin typeface="Times New Roman" panose="02020603050405020304" pitchFamily="18" charset="0"/>
                <a:ea typeface="Times New Roman" panose="02020603050405020304" pitchFamily="18" charset="0"/>
              </a:rPr>
            </a:br>
            <a:br>
              <a:rPr lang="fr-FR" sz="1800" dirty="0">
                <a:effectLst/>
                <a:latin typeface="Times New Roman" panose="02020603050405020304" pitchFamily="18" charset="0"/>
                <a:ea typeface="Times New Roman" panose="02020603050405020304" pitchFamily="18" charset="0"/>
              </a:rPr>
            </a:br>
            <a:br>
              <a:rPr lang="fr-FR" sz="1800" dirty="0">
                <a:effectLst/>
                <a:latin typeface="Times New Roman" panose="02020603050405020304" pitchFamily="18" charset="0"/>
                <a:ea typeface="Times New Roman" panose="02020603050405020304" pitchFamily="18" charset="0"/>
              </a:rPr>
            </a:br>
            <a:endParaRPr lang="fr-FR" dirty="0"/>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18</a:t>
            </a:fld>
            <a:endParaRPr lang="fr-FR"/>
          </a:p>
        </p:txBody>
      </p:sp>
    </p:spTree>
    <p:extLst>
      <p:ext uri="{BB962C8B-B14F-4D97-AF65-F5344CB8AC3E}">
        <p14:creationId xmlns:p14="http://schemas.microsoft.com/office/powerpoint/2010/main" val="16648874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Ainsi s’achève mon intervention!</a:t>
            </a:r>
          </a:p>
          <a:p>
            <a:r>
              <a:rPr lang="fr-FR" dirty="0"/>
              <a:t>Je me tiens maintenant à votre entière disposition pour toute interrogation ou remarque éventuelle de votre part, messieurs</a:t>
            </a:r>
          </a:p>
        </p:txBody>
      </p:sp>
      <p:sp>
        <p:nvSpPr>
          <p:cNvPr id="4" name="Espace réservé du numéro de diapositive 3"/>
          <p:cNvSpPr>
            <a:spLocks noGrp="1"/>
          </p:cNvSpPr>
          <p:nvPr>
            <p:ph type="sldNum" sz="quarter" idx="5"/>
          </p:nvPr>
        </p:nvSpPr>
        <p:spPr/>
        <p:txBody>
          <a:bodyPr/>
          <a:lstStyle/>
          <a:p>
            <a:fld id="{EEEDD49D-6A62-4045-9F7D-ED405E9B87D2}" type="slidenum">
              <a:rPr lang="fr-FR" smtClean="0"/>
              <a:t>19</a:t>
            </a:fld>
            <a:endParaRPr lang="fr-FR"/>
          </a:p>
        </p:txBody>
      </p:sp>
    </p:spTree>
    <p:extLst>
      <p:ext uri="{BB962C8B-B14F-4D97-AF65-F5344CB8AC3E}">
        <p14:creationId xmlns:p14="http://schemas.microsoft.com/office/powerpoint/2010/main" val="28580683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fr-FR"/>
              <a:t>Modifiez le style du titre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a:xfrm>
            <a:off x="2692397" y="5037663"/>
            <a:ext cx="5214635" cy="279400"/>
          </a:xfrm>
        </p:spPr>
        <p:txBody>
          <a:bodyPr/>
          <a:lstStyle/>
          <a:p>
            <a:endParaRPr lang="fr-FR"/>
          </a:p>
        </p:txBody>
      </p:sp>
      <p:sp>
        <p:nvSpPr>
          <p:cNvPr id="6" name="Slide Number Placeholder 5"/>
          <p:cNvSpPr>
            <a:spLocks noGrp="1"/>
          </p:cNvSpPr>
          <p:nvPr>
            <p:ph type="sldNum" sz="quarter" idx="12"/>
          </p:nvPr>
        </p:nvSpPr>
        <p:spPr>
          <a:xfrm>
            <a:off x="8956900" y="5037663"/>
            <a:ext cx="551167" cy="279400"/>
          </a:xfrm>
        </p:spPr>
        <p:txBody>
          <a:bodyPr/>
          <a:lstStyle/>
          <a:p>
            <a:fld id="{793079C5-F220-4BBA-AF2C-7827165467CF}" type="slidenum">
              <a:rPr lang="fr-FR" smtClean="0"/>
              <a:t>‹N°›</a:t>
            </a:fld>
            <a:endParaRPr lang="fr-F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8026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3079C5-F220-4BBA-AF2C-7827165467CF}" type="slidenum">
              <a:rPr lang="fr-FR" smtClean="0"/>
              <a:t>‹N°›</a:t>
            </a:fld>
            <a:endParaRPr lang="fr-FR"/>
          </a:p>
        </p:txBody>
      </p:sp>
    </p:spTree>
    <p:extLst>
      <p:ext uri="{BB962C8B-B14F-4D97-AF65-F5344CB8AC3E}">
        <p14:creationId xmlns:p14="http://schemas.microsoft.com/office/powerpoint/2010/main" val="1061439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fr-FR"/>
              <a:t>Modifiez le style du titre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3079C5-F220-4BBA-AF2C-7827165467CF}" type="slidenum">
              <a:rPr lang="fr-FR" smtClean="0"/>
              <a:t>‹N°›</a:t>
            </a:fld>
            <a:endParaRPr lang="fr-F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5218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D2CCDD0-FDC6-40B8-86AE-B79F69DACF38}" type="datetimeFigureOut">
              <a:rPr lang="fr-FR" smtClean="0"/>
              <a:t>03/02/2025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93079C5-F220-4BBA-AF2C-7827165467CF}" type="slidenum">
              <a:rPr lang="fr-FR" smtClean="0"/>
              <a:t>‹N°›</a:t>
            </a:fld>
            <a:endParaRPr lang="fr-FR"/>
          </a:p>
        </p:txBody>
      </p:sp>
    </p:spTree>
    <p:extLst>
      <p:ext uri="{BB962C8B-B14F-4D97-AF65-F5344CB8AC3E}">
        <p14:creationId xmlns:p14="http://schemas.microsoft.com/office/powerpoint/2010/main" val="1388451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D2CCDD0-FDC6-40B8-86AE-B79F69DACF38}" type="datetimeFigureOut">
              <a:rPr lang="fr-FR" smtClean="0"/>
              <a:t>03/02/2025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793079C5-F220-4BBA-AF2C-7827165467CF}" type="slidenum">
              <a:rPr lang="fr-FR" smtClean="0"/>
              <a:t>‹N°›</a:t>
            </a:fld>
            <a:endParaRPr lang="fr-F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5596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D2CCDD0-FDC6-40B8-86AE-B79F69DACF38}" type="datetimeFigureOut">
              <a:rPr lang="fr-FR" smtClean="0"/>
              <a:t>03/02/2025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793079C5-F220-4BBA-AF2C-7827165467CF}" type="slidenum">
              <a:rPr lang="fr-FR" smtClean="0"/>
              <a:t>‹N°›</a:t>
            </a:fld>
            <a:endParaRPr lang="fr-F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1956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2CCDD0-FDC6-40B8-86AE-B79F69DACF38}" type="datetimeFigureOut">
              <a:rPr lang="fr-FR" smtClean="0"/>
              <a:t>03/02/2025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793079C5-F220-4BBA-AF2C-7827165467CF}" type="slidenum">
              <a:rPr lang="fr-FR" smtClean="0"/>
              <a:t>‹N°›</a:t>
            </a:fld>
            <a:endParaRPr lang="fr-FR"/>
          </a:p>
        </p:txBody>
      </p:sp>
    </p:spTree>
    <p:extLst>
      <p:ext uri="{BB962C8B-B14F-4D97-AF65-F5344CB8AC3E}">
        <p14:creationId xmlns:p14="http://schemas.microsoft.com/office/powerpoint/2010/main" val="2846479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fr-FR"/>
              <a:t>Modifiez le style du titre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D2CCDD0-FDC6-40B8-86AE-B79F69DACF38}" type="datetimeFigureOut">
              <a:rPr lang="fr-FR" smtClean="0"/>
              <a:t>03/02/2025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93079C5-F220-4BBA-AF2C-7827165467CF}" type="slidenum">
              <a:rPr lang="fr-FR" smtClean="0"/>
              <a:t>‹N°›</a:t>
            </a:fld>
            <a:endParaRPr lang="fr-F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0131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fr-FR"/>
              <a:t>Modifiez le style du titre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D2CCDD0-FDC6-40B8-86AE-B79F69DACF38}" type="datetimeFigureOut">
              <a:rPr lang="fr-FR" smtClean="0"/>
              <a:t>03/02/2025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93079C5-F220-4BBA-AF2C-7827165467CF}" type="slidenum">
              <a:rPr lang="fr-FR" smtClean="0"/>
              <a:t>‹N°›</a:t>
            </a:fld>
            <a:endParaRPr lang="fr-FR"/>
          </a:p>
        </p:txBody>
      </p:sp>
    </p:spTree>
    <p:extLst>
      <p:ext uri="{BB962C8B-B14F-4D97-AF65-F5344CB8AC3E}">
        <p14:creationId xmlns:p14="http://schemas.microsoft.com/office/powerpoint/2010/main" val="1288481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D2CCDD0-FDC6-40B8-86AE-B79F69DACF38}" type="datetimeFigureOut">
              <a:rPr lang="fr-FR" smtClean="0"/>
              <a:t>03/02/2025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93079C5-F220-4BBA-AF2C-7827165467CF}" type="slidenum">
              <a:rPr lang="fr-FR" smtClean="0"/>
              <a:t>‹N°›</a:t>
            </a:fld>
            <a:endParaRPr lang="fr-FR"/>
          </a:p>
        </p:txBody>
      </p:sp>
    </p:spTree>
    <p:extLst>
      <p:ext uri="{BB962C8B-B14F-4D97-AF65-F5344CB8AC3E}">
        <p14:creationId xmlns:p14="http://schemas.microsoft.com/office/powerpoint/2010/main" val="2519313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3079C5-F220-4BBA-AF2C-7827165467CF}" type="slidenum">
              <a:rPr lang="fr-FR" smtClean="0"/>
              <a:t>‹N°›</a:t>
            </a:fld>
            <a:endParaRPr lang="fr-F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2567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3079C5-F220-4BBA-AF2C-7827165467CF}" type="slidenum">
              <a:rPr lang="fr-FR" smtClean="0"/>
              <a:t>‹N°›</a:t>
            </a:fld>
            <a:endParaRPr lang="fr-F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7616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3079C5-F220-4BBA-AF2C-7827165467CF}" type="slidenum">
              <a:rPr lang="fr-FR" smtClean="0"/>
              <a:t>‹N°›</a:t>
            </a:fld>
            <a:endParaRPr lang="fr-FR"/>
          </a:p>
        </p:txBody>
      </p:sp>
    </p:spTree>
    <p:extLst>
      <p:ext uri="{BB962C8B-B14F-4D97-AF65-F5344CB8AC3E}">
        <p14:creationId xmlns:p14="http://schemas.microsoft.com/office/powerpoint/2010/main" val="3338533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3079C5-F220-4BBA-AF2C-7827165467CF}" type="slidenum">
              <a:rPr lang="fr-FR" smtClean="0"/>
              <a:t>‹N°›</a:t>
            </a:fld>
            <a:endParaRPr lang="fr-F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76359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3079C5-F220-4BBA-AF2C-7827165467CF}" type="slidenum">
              <a:rPr lang="fr-FR" smtClean="0"/>
              <a:t>‹N°›</a:t>
            </a:fld>
            <a:endParaRPr lang="fr-F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16154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3079C5-F220-4BBA-AF2C-7827165467CF}" type="slidenum">
              <a:rPr lang="fr-FR" smtClean="0"/>
              <a:t>‹N°›</a:t>
            </a:fld>
            <a:endParaRPr lang="fr-F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5710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D2CCDD0-FDC6-40B8-86AE-B79F69DACF38}" type="datetimeFigureOut">
              <a:rPr lang="fr-FR" smtClean="0"/>
              <a:t>03/02/2025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93079C5-F220-4BBA-AF2C-7827165467CF}" type="slidenum">
              <a:rPr lang="fr-FR" smtClean="0"/>
              <a:t>‹N°›</a:t>
            </a:fld>
            <a:endParaRPr lang="fr-F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7652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2CCDD0-FDC6-40B8-86AE-B79F69DACF38}" type="datetimeFigureOut">
              <a:rPr lang="fr-FR" smtClean="0"/>
              <a:t>03/02/2025</a:t>
            </a:fld>
            <a:endParaRPr lang="fr-F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fr-F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93079C5-F220-4BBA-AF2C-7827165467CF}" type="slidenum">
              <a:rPr lang="fr-FR" smtClean="0"/>
              <a:t>‹N°›</a:t>
            </a:fld>
            <a:endParaRPr lang="fr-FR"/>
          </a:p>
        </p:txBody>
      </p:sp>
    </p:spTree>
    <p:extLst>
      <p:ext uri="{BB962C8B-B14F-4D97-AF65-F5344CB8AC3E}">
        <p14:creationId xmlns:p14="http://schemas.microsoft.com/office/powerpoint/2010/main" val="252515861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https://www.saimltd.mu/"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tactidevis.fr/logiciel-menuisier"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www.mediabat.com/logiciel-batiment-artisan/menuiserie/"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277D50CE-2B23-D41B-BF28-F2D3677ED241}"/>
              </a:ext>
            </a:extLst>
          </p:cNvPr>
          <p:cNvSpPr>
            <a:spLocks noGrp="1"/>
          </p:cNvSpPr>
          <p:nvPr>
            <p:ph type="title"/>
          </p:nvPr>
        </p:nvSpPr>
        <p:spPr>
          <a:xfrm>
            <a:off x="1319349" y="2220686"/>
            <a:ext cx="9353005" cy="2207623"/>
          </a:xfrm>
          <a:solidFill>
            <a:schemeClr val="accent6">
              <a:lumMod val="60000"/>
              <a:lumOff val="40000"/>
            </a:schemeClr>
          </a:solidFill>
        </p:spPr>
        <p:txBody>
          <a:bodyPr>
            <a:normAutofit fontScale="90000"/>
          </a:bodyPr>
          <a:lstStyle/>
          <a:p>
            <a:pPr algn="ctr"/>
            <a:br>
              <a:rPr lang="fr-FR" sz="3100" b="1" dirty="0"/>
            </a:br>
            <a:r>
              <a:rPr lang="fr-FR" sz="3100" b="1" dirty="0"/>
              <a:t>Conception et développement d’une application web pour la gestion des devis, factures et bons de livraison dans le domaine de la menuiserie en mélamine et aluminium</a:t>
            </a:r>
            <a:br>
              <a:rPr lang="fr-FR" sz="4400" b="1" dirty="0"/>
            </a:br>
            <a:endParaRPr lang="fr-FR" sz="4000" b="1" dirty="0"/>
          </a:p>
        </p:txBody>
      </p:sp>
      <p:sp>
        <p:nvSpPr>
          <p:cNvPr id="7" name="Sous-titre 2">
            <a:extLst>
              <a:ext uri="{FF2B5EF4-FFF2-40B4-BE49-F238E27FC236}">
                <a16:creationId xmlns:a16="http://schemas.microsoft.com/office/drawing/2014/main" id="{89D10C09-4A22-773F-EEFE-EE2B1CDBB9AA}"/>
              </a:ext>
            </a:extLst>
          </p:cNvPr>
          <p:cNvSpPr txBox="1">
            <a:spLocks/>
          </p:cNvSpPr>
          <p:nvPr/>
        </p:nvSpPr>
        <p:spPr>
          <a:xfrm>
            <a:off x="914400" y="5185954"/>
            <a:ext cx="5181600" cy="496583"/>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fr-FR" dirty="0"/>
              <a:t>Présenté par : </a:t>
            </a:r>
            <a:r>
              <a:rPr lang="fr-FR" b="1" dirty="0"/>
              <a:t>TAHINDRAZA Nico</a:t>
            </a:r>
          </a:p>
        </p:txBody>
      </p:sp>
      <p:pic>
        <p:nvPicPr>
          <p:cNvPr id="8" name="Image 7">
            <a:extLst>
              <a:ext uri="{FF2B5EF4-FFF2-40B4-BE49-F238E27FC236}">
                <a16:creationId xmlns:a16="http://schemas.microsoft.com/office/drawing/2014/main" id="{4F2B8B09-85CA-CEAA-ACCF-82A718FF74EC}"/>
              </a:ext>
            </a:extLst>
          </p:cNvPr>
          <p:cNvPicPr>
            <a:picLocks noChangeAspect="1"/>
          </p:cNvPicPr>
          <p:nvPr/>
        </p:nvPicPr>
        <p:blipFill>
          <a:blip r:embed="rId3"/>
          <a:srcRect/>
          <a:stretch>
            <a:fillRect/>
          </a:stretch>
        </p:blipFill>
        <p:spPr bwMode="auto">
          <a:xfrm>
            <a:off x="884635" y="703840"/>
            <a:ext cx="905302" cy="967309"/>
          </a:xfrm>
          <a:prstGeom prst="rect">
            <a:avLst/>
          </a:prstGeom>
          <a:noFill/>
          <a:ln w="9525">
            <a:noFill/>
            <a:miter lim="800000"/>
            <a:headEnd/>
            <a:tailEnd/>
          </a:ln>
        </p:spPr>
      </p:pic>
      <p:pic>
        <p:nvPicPr>
          <p:cNvPr id="9" name="Image 8">
            <a:extLst>
              <a:ext uri="{FF2B5EF4-FFF2-40B4-BE49-F238E27FC236}">
                <a16:creationId xmlns:a16="http://schemas.microsoft.com/office/drawing/2014/main" id="{4D18B64B-1B29-9C69-D27F-F993709C3EF3}"/>
              </a:ext>
            </a:extLst>
          </p:cNvPr>
          <p:cNvPicPr>
            <a:picLocks noChangeAspect="1"/>
          </p:cNvPicPr>
          <p:nvPr/>
        </p:nvPicPr>
        <p:blipFill>
          <a:blip r:embed="rId4"/>
          <a:srcRect/>
          <a:stretch>
            <a:fillRect/>
          </a:stretch>
        </p:blipFill>
        <p:spPr bwMode="auto">
          <a:xfrm>
            <a:off x="2090384" y="722812"/>
            <a:ext cx="905301" cy="905301"/>
          </a:xfrm>
          <a:prstGeom prst="rect">
            <a:avLst/>
          </a:prstGeom>
          <a:noFill/>
          <a:ln w="9525">
            <a:noFill/>
            <a:miter lim="800000"/>
            <a:headEnd/>
            <a:tailEnd/>
          </a:ln>
        </p:spPr>
      </p:pic>
      <p:pic>
        <p:nvPicPr>
          <p:cNvPr id="10" name="Image 9">
            <a:extLst>
              <a:ext uri="{FF2B5EF4-FFF2-40B4-BE49-F238E27FC236}">
                <a16:creationId xmlns:a16="http://schemas.microsoft.com/office/drawing/2014/main" id="{1995BC33-7C8F-BF31-BD04-7E06389A702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auto">
          <a:xfrm>
            <a:off x="9287037" y="679777"/>
            <a:ext cx="2124368" cy="991372"/>
          </a:xfrm>
          <a:prstGeom prst="rect">
            <a:avLst/>
          </a:prstGeom>
          <a:noFill/>
          <a:ln w="9525">
            <a:noFill/>
            <a:miter lim="800000"/>
            <a:headEnd/>
            <a:tailEnd/>
          </a:ln>
        </p:spPr>
      </p:pic>
    </p:spTree>
    <p:extLst>
      <p:ext uri="{BB962C8B-B14F-4D97-AF65-F5344CB8AC3E}">
        <p14:creationId xmlns:p14="http://schemas.microsoft.com/office/powerpoint/2010/main" val="1915660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277D50CE-2B23-D41B-BF28-F2D3677ED241}"/>
              </a:ext>
            </a:extLst>
          </p:cNvPr>
          <p:cNvSpPr>
            <a:spLocks noGrp="1"/>
          </p:cNvSpPr>
          <p:nvPr>
            <p:ph type="title" idx="4294967295"/>
          </p:nvPr>
        </p:nvSpPr>
        <p:spPr>
          <a:xfrm>
            <a:off x="1473200" y="773113"/>
            <a:ext cx="8896350" cy="738187"/>
          </a:xfrm>
          <a:solidFill>
            <a:schemeClr val="accent6">
              <a:lumMod val="60000"/>
              <a:lumOff val="40000"/>
            </a:schemeClr>
          </a:solidFill>
        </p:spPr>
        <p:txBody>
          <a:bodyPr>
            <a:normAutofit/>
          </a:bodyPr>
          <a:lstStyle/>
          <a:p>
            <a:pPr algn="ctr"/>
            <a:r>
              <a:rPr lang="fr-FR" sz="4000" b="1" dirty="0"/>
              <a:t>Remerciements</a:t>
            </a:r>
          </a:p>
        </p:txBody>
      </p:sp>
      <p:sp>
        <p:nvSpPr>
          <p:cNvPr id="3" name="ZoneTexte 2">
            <a:extLst>
              <a:ext uri="{FF2B5EF4-FFF2-40B4-BE49-F238E27FC236}">
                <a16:creationId xmlns:a16="http://schemas.microsoft.com/office/drawing/2014/main" id="{08173222-A6E3-B3E1-5579-AA67EB29A29E}"/>
              </a:ext>
            </a:extLst>
          </p:cNvPr>
          <p:cNvSpPr txBox="1"/>
          <p:nvPr/>
        </p:nvSpPr>
        <p:spPr>
          <a:xfrm>
            <a:off x="838200" y="1702644"/>
            <a:ext cx="12433300" cy="4208203"/>
          </a:xfrm>
          <a:prstGeom prst="rect">
            <a:avLst/>
          </a:prstGeom>
          <a:noFill/>
        </p:spPr>
        <p:txBody>
          <a:bodyPr wrap="square">
            <a:spAutoFit/>
          </a:bodyPr>
          <a:lstStyle/>
          <a:p>
            <a:pPr marL="171450" indent="-171450">
              <a:lnSpc>
                <a:spcPct val="150000"/>
              </a:lnSpc>
              <a:buClr>
                <a:schemeClr val="bg2"/>
              </a:buClr>
              <a:buFont typeface="Wingdings" panose="05000000000000000000" pitchFamily="2" charset="2"/>
              <a:buChar char="v"/>
            </a:pPr>
            <a:r>
              <a:rPr lang="fr-FR" b="1" dirty="0"/>
              <a:t>Monsieur le Docteur HDR HAJALALAINA Aimé Richard</a:t>
            </a:r>
            <a:r>
              <a:rPr lang="fr-FR" dirty="0"/>
              <a:t>, président de l’Université de Fianarantsoa.</a:t>
            </a:r>
          </a:p>
          <a:p>
            <a:pPr marL="171450" indent="-171450">
              <a:lnSpc>
                <a:spcPct val="150000"/>
              </a:lnSpc>
              <a:buClr>
                <a:schemeClr val="bg2"/>
              </a:buClr>
              <a:buFont typeface="Wingdings" panose="05000000000000000000" pitchFamily="2" charset="2"/>
              <a:buChar char="v"/>
            </a:pPr>
            <a:r>
              <a:rPr lang="fr-FR" b="1" dirty="0"/>
              <a:t>Monsieur VERIZA Roberto Francis</a:t>
            </a:r>
            <a:r>
              <a:rPr lang="fr-FR" dirty="0"/>
              <a:t>, président de l’Université de </a:t>
            </a:r>
            <a:r>
              <a:rPr lang="fr-FR" dirty="0" err="1"/>
              <a:t>Tulear</a:t>
            </a:r>
            <a:r>
              <a:rPr lang="fr-FR" dirty="0"/>
              <a:t>.</a:t>
            </a:r>
          </a:p>
          <a:p>
            <a:pPr marL="171450" indent="-171450">
              <a:lnSpc>
                <a:spcPct val="150000"/>
              </a:lnSpc>
              <a:buClr>
                <a:schemeClr val="bg2"/>
              </a:buClr>
              <a:buFont typeface="Wingdings" panose="05000000000000000000" pitchFamily="2" charset="2"/>
              <a:buChar char="v"/>
            </a:pPr>
            <a:r>
              <a:rPr lang="fr-FR" b="1" dirty="0"/>
              <a:t>Monsieur le Docteur MAHATODY Thomas</a:t>
            </a:r>
            <a:r>
              <a:rPr lang="fr-FR" dirty="0"/>
              <a:t>, Directeur de l’École Nationale d’Informatique.</a:t>
            </a:r>
          </a:p>
          <a:p>
            <a:pPr marL="171450" indent="-171450">
              <a:lnSpc>
                <a:spcPct val="150000"/>
              </a:lnSpc>
              <a:buClr>
                <a:schemeClr val="bg2"/>
              </a:buClr>
              <a:buFont typeface="Wingdings" panose="05000000000000000000" pitchFamily="2" charset="2"/>
              <a:buChar char="v"/>
            </a:pPr>
            <a:r>
              <a:rPr lang="fr-FR" b="1" dirty="0"/>
              <a:t>Monsieur RABETAFIKA Louis </a:t>
            </a:r>
            <a:r>
              <a:rPr lang="fr-FR" b="1" dirty="0" err="1"/>
              <a:t>Haja</a:t>
            </a:r>
            <a:r>
              <a:rPr lang="fr-FR" dirty="0"/>
              <a:t>, Maître de conférences.</a:t>
            </a:r>
          </a:p>
          <a:p>
            <a:pPr marL="171450" indent="-171450">
              <a:lnSpc>
                <a:spcPct val="150000"/>
              </a:lnSpc>
              <a:buClr>
                <a:schemeClr val="bg2"/>
              </a:buClr>
              <a:buFont typeface="Wingdings" panose="05000000000000000000" pitchFamily="2" charset="2"/>
              <a:buChar char="v"/>
            </a:pPr>
            <a:r>
              <a:rPr lang="fr-FR" b="1" dirty="0"/>
              <a:t>Monsieur Emmanuel ESTEBAN</a:t>
            </a:r>
            <a:r>
              <a:rPr lang="fr-FR" dirty="0"/>
              <a:t>, Directeur Général de la société SAIM Ltd.</a:t>
            </a:r>
          </a:p>
          <a:p>
            <a:pPr marL="171450" indent="-171450">
              <a:lnSpc>
                <a:spcPct val="150000"/>
              </a:lnSpc>
              <a:buClr>
                <a:schemeClr val="bg2"/>
              </a:buClr>
              <a:buFont typeface="Wingdings" panose="05000000000000000000" pitchFamily="2" charset="2"/>
              <a:buChar char="v"/>
            </a:pPr>
            <a:r>
              <a:rPr lang="fr-FR" b="1" dirty="0"/>
              <a:t>Tous les membres du jury</a:t>
            </a:r>
            <a:r>
              <a:rPr lang="fr-FR" dirty="0"/>
              <a:t>.</a:t>
            </a:r>
          </a:p>
          <a:p>
            <a:pPr marL="171450" indent="-171450">
              <a:lnSpc>
                <a:spcPct val="150000"/>
              </a:lnSpc>
              <a:buClr>
                <a:schemeClr val="bg2"/>
              </a:buClr>
              <a:buFont typeface="Wingdings" panose="05000000000000000000" pitchFamily="2" charset="2"/>
              <a:buChar char="v"/>
            </a:pPr>
            <a:r>
              <a:rPr lang="fr-FR" b="1" dirty="0"/>
              <a:t>Tous les enseignants de l’École Nationale d’Informatique</a:t>
            </a:r>
            <a:r>
              <a:rPr lang="fr-FR" dirty="0"/>
              <a:t>.</a:t>
            </a:r>
          </a:p>
          <a:p>
            <a:pPr marL="171450" indent="-171450">
              <a:lnSpc>
                <a:spcPct val="150000"/>
              </a:lnSpc>
              <a:buClr>
                <a:schemeClr val="bg2"/>
              </a:buClr>
              <a:buFont typeface="Wingdings" panose="05000000000000000000" pitchFamily="2" charset="2"/>
              <a:buChar char="v"/>
            </a:pPr>
            <a:r>
              <a:rPr lang="fr-FR" b="1" dirty="0"/>
              <a:t>Toutes les équipes de la société SAIM Ltd</a:t>
            </a:r>
            <a:r>
              <a:rPr lang="fr-FR" dirty="0"/>
              <a:t>.</a:t>
            </a:r>
          </a:p>
          <a:p>
            <a:pPr marL="0" indent="0">
              <a:lnSpc>
                <a:spcPct val="150000"/>
              </a:lnSpc>
              <a:buClr>
                <a:schemeClr val="bg2"/>
              </a:buClr>
              <a:buFont typeface="Wingdings" panose="05000000000000000000" pitchFamily="2" charset="2"/>
              <a:buNone/>
            </a:pPr>
            <a:r>
              <a:rPr lang="fr-FR" dirty="0"/>
              <a:t>Je remercie du fond du cœur a mes parents, les membres de ma famille de m’avoir donner le soutien durant la période de stage</a:t>
            </a:r>
          </a:p>
          <a:p>
            <a:pPr marL="0" indent="0">
              <a:lnSpc>
                <a:spcPct val="150000"/>
              </a:lnSpc>
              <a:buClr>
                <a:schemeClr val="bg2"/>
              </a:buClr>
              <a:buFont typeface="Wingdings" panose="05000000000000000000" pitchFamily="2" charset="2"/>
              <a:buNone/>
            </a:pPr>
            <a:r>
              <a:rPr lang="fr-FR" dirty="0"/>
              <a:t>Sans oublié  mes collègues qui m’ont beaucoup aidé.</a:t>
            </a:r>
          </a:p>
        </p:txBody>
      </p:sp>
    </p:spTree>
    <p:extLst>
      <p:ext uri="{BB962C8B-B14F-4D97-AF65-F5344CB8AC3E}">
        <p14:creationId xmlns:p14="http://schemas.microsoft.com/office/powerpoint/2010/main" val="1209605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277D50CE-2B23-D41B-BF28-F2D3677ED241}"/>
              </a:ext>
            </a:extLst>
          </p:cNvPr>
          <p:cNvSpPr>
            <a:spLocks noGrp="1"/>
          </p:cNvSpPr>
          <p:nvPr>
            <p:ph type="title" idx="4294967295"/>
          </p:nvPr>
        </p:nvSpPr>
        <p:spPr>
          <a:xfrm>
            <a:off x="1435100" y="760413"/>
            <a:ext cx="8896350" cy="890587"/>
          </a:xfrm>
          <a:solidFill>
            <a:schemeClr val="accent6">
              <a:lumMod val="60000"/>
              <a:lumOff val="40000"/>
            </a:schemeClr>
          </a:solidFill>
        </p:spPr>
        <p:txBody>
          <a:bodyPr>
            <a:normAutofit/>
          </a:bodyPr>
          <a:lstStyle/>
          <a:p>
            <a:pPr algn="ctr"/>
            <a:r>
              <a:rPr lang="fr-FR" sz="4000" b="1" dirty="0"/>
              <a:t>INTRODUCTION</a:t>
            </a:r>
          </a:p>
        </p:txBody>
      </p:sp>
      <p:sp>
        <p:nvSpPr>
          <p:cNvPr id="6" name="ZoneTexte 5">
            <a:extLst>
              <a:ext uri="{FF2B5EF4-FFF2-40B4-BE49-F238E27FC236}">
                <a16:creationId xmlns:a16="http://schemas.microsoft.com/office/drawing/2014/main" id="{8EA88F49-3972-FAE7-CDAA-91C2739D123C}"/>
              </a:ext>
            </a:extLst>
          </p:cNvPr>
          <p:cNvSpPr txBox="1"/>
          <p:nvPr/>
        </p:nvSpPr>
        <p:spPr>
          <a:xfrm>
            <a:off x="1435100" y="2361336"/>
            <a:ext cx="9642475" cy="1569660"/>
          </a:xfrm>
          <a:prstGeom prst="rect">
            <a:avLst/>
          </a:prstGeom>
          <a:noFill/>
        </p:spPr>
        <p:txBody>
          <a:bodyPr wrap="square">
            <a:spAutoFit/>
          </a:bodyPr>
          <a:lstStyle/>
          <a:p>
            <a:r>
              <a:rPr lang="fr-FR" sz="2400" dirty="0"/>
              <a:t>Durant ces six derniers mois, j’ai effectué mon stage au sein de la société SAIM </a:t>
            </a:r>
            <a:r>
              <a:rPr lang="fr-FR" sz="2400" dirty="0" err="1"/>
              <a:t>Ltd,où</a:t>
            </a:r>
            <a:r>
              <a:rPr lang="fr-FR" sz="2400" dirty="0"/>
              <a:t> j’ai été amené à concevoir et développer une application web pour élaborer des devis, de générer des factures et de gérer des bons de livraison, afin d’optimiser le travail  et d’avoir un meilleur suivi des opérations.</a:t>
            </a:r>
          </a:p>
        </p:txBody>
      </p:sp>
    </p:spTree>
    <p:extLst>
      <p:ext uri="{BB962C8B-B14F-4D97-AF65-F5344CB8AC3E}">
        <p14:creationId xmlns:p14="http://schemas.microsoft.com/office/powerpoint/2010/main" val="1540060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2890A57-7F5C-A361-0BA6-9FC1C983B6E0}"/>
              </a:ext>
            </a:extLst>
          </p:cNvPr>
          <p:cNvSpPr>
            <a:spLocks noGrp="1"/>
          </p:cNvSpPr>
          <p:nvPr>
            <p:ph idx="4294967295"/>
          </p:nvPr>
        </p:nvSpPr>
        <p:spPr>
          <a:xfrm>
            <a:off x="3474720" y="731519"/>
            <a:ext cx="6348548" cy="5394961"/>
          </a:xfrm>
        </p:spPr>
        <p:txBody>
          <a:bodyPr>
            <a:normAutofit fontScale="77500" lnSpcReduction="20000"/>
          </a:bodyPr>
          <a:lstStyle/>
          <a:p>
            <a:pPr marL="1371600" lvl="3" indent="0">
              <a:lnSpc>
                <a:spcPct val="170000"/>
              </a:lnSpc>
              <a:buNone/>
            </a:pPr>
            <a:r>
              <a:rPr lang="fr-FR" sz="2000" dirty="0">
                <a:latin typeface="Times New Roman" panose="02020603050405020304" pitchFamily="18" charset="0"/>
                <a:cs typeface="Times New Roman" panose="02020603050405020304" pitchFamily="18" charset="0"/>
              </a:rPr>
              <a:t>Partie 1 :  </a:t>
            </a:r>
            <a:r>
              <a:rPr lang="fr-FR" sz="2000" b="1" dirty="0">
                <a:latin typeface="Times New Roman" panose="02020603050405020304" pitchFamily="18" charset="0"/>
                <a:cs typeface="Times New Roman" panose="02020603050405020304" pitchFamily="18" charset="0"/>
              </a:rPr>
              <a:t>PRESENTEATION</a:t>
            </a:r>
          </a:p>
          <a:p>
            <a:pPr marL="2633663" lvl="3" indent="-457200" algn="just">
              <a:lnSpc>
                <a:spcPct val="170000"/>
              </a:lnSpc>
              <a:buFont typeface="Wingdings" panose="05000000000000000000" pitchFamily="2" charset="2"/>
              <a:buChar char="v"/>
            </a:pPr>
            <a:r>
              <a:rPr lang="fr-FR" sz="2000" dirty="0">
                <a:latin typeface="Times New Roman" panose="02020603050405020304" pitchFamily="18" charset="0"/>
                <a:cs typeface="Times New Roman" panose="02020603050405020304" pitchFamily="18" charset="0"/>
              </a:rPr>
              <a:t>Présentation de l’ENI</a:t>
            </a:r>
          </a:p>
          <a:p>
            <a:pPr marL="2633663" lvl="3" indent="-457200" algn="just">
              <a:lnSpc>
                <a:spcPct val="170000"/>
              </a:lnSpc>
              <a:buFont typeface="Wingdings" panose="05000000000000000000" pitchFamily="2" charset="2"/>
              <a:buChar char="v"/>
            </a:pPr>
            <a:r>
              <a:rPr lang="fr-FR" sz="1800" dirty="0">
                <a:latin typeface="Times New Roman" panose="02020603050405020304" pitchFamily="18" charset="0"/>
                <a:cs typeface="Times New Roman" panose="02020603050405020304" pitchFamily="18" charset="0"/>
              </a:rPr>
              <a:t>Présentation de la société SAIM Ltd</a:t>
            </a:r>
          </a:p>
          <a:p>
            <a:pPr marL="2633663" lvl="3" indent="-457200" algn="just">
              <a:lnSpc>
                <a:spcPct val="170000"/>
              </a:lnSpc>
              <a:buFont typeface="Wingdings" panose="05000000000000000000" pitchFamily="2" charset="2"/>
              <a:buChar char="v"/>
            </a:pPr>
            <a:r>
              <a:rPr lang="fr-FR" sz="2000" dirty="0">
                <a:latin typeface="Times New Roman" panose="02020603050405020304" pitchFamily="18" charset="0"/>
                <a:cs typeface="Times New Roman" panose="02020603050405020304" pitchFamily="18" charset="0"/>
              </a:rPr>
              <a:t>Description de projet</a:t>
            </a:r>
          </a:p>
          <a:p>
            <a:pPr marL="1371600" lvl="3" indent="0">
              <a:lnSpc>
                <a:spcPct val="170000"/>
              </a:lnSpc>
              <a:buNone/>
            </a:pPr>
            <a:r>
              <a:rPr lang="fr-FR" sz="2000" dirty="0">
                <a:latin typeface="Times New Roman" panose="02020603050405020304" pitchFamily="18" charset="0"/>
                <a:cs typeface="Times New Roman" panose="02020603050405020304" pitchFamily="18" charset="0"/>
              </a:rPr>
              <a:t>Partie 2 :  </a:t>
            </a:r>
            <a:r>
              <a:rPr lang="fr-FR" sz="2000" b="1" dirty="0">
                <a:latin typeface="Times New Roman" panose="02020603050405020304" pitchFamily="18" charset="0"/>
                <a:cs typeface="Times New Roman" panose="02020603050405020304" pitchFamily="18" charset="0"/>
              </a:rPr>
              <a:t>ANALYSE ET CONCEPTION</a:t>
            </a:r>
          </a:p>
          <a:p>
            <a:pPr marL="2633663" lvl="3" indent="-457200">
              <a:lnSpc>
                <a:spcPct val="170000"/>
              </a:lnSpc>
              <a:buFont typeface="Wingdings" panose="05000000000000000000" pitchFamily="2" charset="2"/>
              <a:buChar char="v"/>
            </a:pPr>
            <a:r>
              <a:rPr lang="fr-FR" sz="2000" dirty="0">
                <a:latin typeface="Times New Roman" panose="02020603050405020304" pitchFamily="18" charset="0"/>
                <a:cs typeface="Times New Roman" panose="02020603050405020304" pitchFamily="18" charset="0"/>
              </a:rPr>
              <a:t>Analyse préalable</a:t>
            </a:r>
          </a:p>
          <a:p>
            <a:pPr marL="2633663" lvl="3" indent="-457200">
              <a:lnSpc>
                <a:spcPct val="170000"/>
              </a:lnSpc>
              <a:buFont typeface="Wingdings" panose="05000000000000000000" pitchFamily="2" charset="2"/>
              <a:buChar char="v"/>
            </a:pPr>
            <a:r>
              <a:rPr lang="fr-FR" sz="2000" dirty="0">
                <a:latin typeface="Times New Roman" panose="02020603050405020304" pitchFamily="18" charset="0"/>
                <a:cs typeface="Times New Roman" panose="02020603050405020304" pitchFamily="18" charset="0"/>
              </a:rPr>
              <a:t>Analyse conceptuelle</a:t>
            </a:r>
          </a:p>
          <a:p>
            <a:pPr marL="2633663" lvl="3" indent="-457200">
              <a:lnSpc>
                <a:spcPct val="170000"/>
              </a:lnSpc>
              <a:buFont typeface="Wingdings" panose="05000000000000000000" pitchFamily="2" charset="2"/>
              <a:buChar char="v"/>
            </a:pPr>
            <a:r>
              <a:rPr lang="fr-FR" sz="2000" dirty="0">
                <a:latin typeface="Times New Roman" panose="02020603050405020304" pitchFamily="18" charset="0"/>
                <a:cs typeface="Times New Roman" panose="02020603050405020304" pitchFamily="18" charset="0"/>
              </a:rPr>
              <a:t>Conception détaillé</a:t>
            </a:r>
          </a:p>
          <a:p>
            <a:pPr marL="1371600" lvl="3" indent="0">
              <a:lnSpc>
                <a:spcPct val="170000"/>
              </a:lnSpc>
              <a:buNone/>
            </a:pPr>
            <a:r>
              <a:rPr lang="fr-FR" sz="2000" dirty="0">
                <a:latin typeface="Times New Roman" panose="02020603050405020304" pitchFamily="18" charset="0"/>
                <a:cs typeface="Times New Roman" panose="02020603050405020304" pitchFamily="18" charset="0"/>
              </a:rPr>
              <a:t>Partie 3 :  </a:t>
            </a:r>
            <a:r>
              <a:rPr lang="fr-FR" sz="2000" b="1" dirty="0">
                <a:latin typeface="Times New Roman" panose="02020603050405020304" pitchFamily="18" charset="0"/>
                <a:cs typeface="Times New Roman" panose="02020603050405020304" pitchFamily="18" charset="0"/>
              </a:rPr>
              <a:t>REALISATION</a:t>
            </a:r>
          </a:p>
          <a:p>
            <a:pPr marL="2622550" lvl="3" indent="-457200">
              <a:lnSpc>
                <a:spcPct val="170000"/>
              </a:lnSpc>
              <a:buFont typeface="Wingdings" panose="05000000000000000000" pitchFamily="2" charset="2"/>
              <a:buChar char="v"/>
            </a:pPr>
            <a:r>
              <a:rPr lang="fr-FR" sz="2000" dirty="0">
                <a:latin typeface="Times New Roman" panose="02020603050405020304" pitchFamily="18" charset="0"/>
                <a:cs typeface="Times New Roman" panose="02020603050405020304" pitchFamily="18" charset="0"/>
              </a:rPr>
              <a:t>Démonstration</a:t>
            </a:r>
          </a:p>
          <a:p>
            <a:pPr marL="2622550" lvl="3" indent="-457200">
              <a:lnSpc>
                <a:spcPct val="170000"/>
              </a:lnSpc>
              <a:buFont typeface="Wingdings" panose="05000000000000000000" pitchFamily="2" charset="2"/>
              <a:buChar char="v"/>
            </a:pPr>
            <a:r>
              <a:rPr lang="fr-FR" sz="2000" dirty="0">
                <a:latin typeface="Times New Roman" panose="02020603050405020304" pitchFamily="18" charset="0"/>
                <a:cs typeface="Times New Roman" panose="02020603050405020304" pitchFamily="18" charset="0"/>
              </a:rPr>
              <a:t>Conclusion</a:t>
            </a:r>
            <a:r>
              <a:rPr lang="fr-FR" dirty="0">
                <a:latin typeface="Times New Roman" panose="02020603050405020304" pitchFamily="18" charset="0"/>
                <a:cs typeface="Times New Roman" panose="02020603050405020304" pitchFamily="18" charset="0"/>
              </a:rPr>
              <a:t>	</a:t>
            </a:r>
          </a:p>
        </p:txBody>
      </p:sp>
      <p:sp>
        <p:nvSpPr>
          <p:cNvPr id="6" name="Flèche : pentagone 5">
            <a:extLst>
              <a:ext uri="{FF2B5EF4-FFF2-40B4-BE49-F238E27FC236}">
                <a16:creationId xmlns:a16="http://schemas.microsoft.com/office/drawing/2014/main" id="{5E46B844-24CE-1EDD-04EE-28D88E48A417}"/>
              </a:ext>
            </a:extLst>
          </p:cNvPr>
          <p:cNvSpPr/>
          <p:nvPr/>
        </p:nvSpPr>
        <p:spPr>
          <a:xfrm>
            <a:off x="904351" y="2805026"/>
            <a:ext cx="2804160" cy="761683"/>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chemeClr val="tx1"/>
                </a:solidFill>
              </a:rPr>
              <a:t>PLAN</a:t>
            </a:r>
          </a:p>
        </p:txBody>
      </p:sp>
    </p:spTree>
    <p:extLst>
      <p:ext uri="{BB962C8B-B14F-4D97-AF65-F5344CB8AC3E}">
        <p14:creationId xmlns:p14="http://schemas.microsoft.com/office/powerpoint/2010/main" val="4294444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86F216-F337-7438-FCCF-B1A7F094B764}"/>
              </a:ext>
            </a:extLst>
          </p:cNvPr>
          <p:cNvSpPr>
            <a:spLocks noGrp="1"/>
          </p:cNvSpPr>
          <p:nvPr>
            <p:ph type="title"/>
          </p:nvPr>
        </p:nvSpPr>
        <p:spPr>
          <a:xfrm>
            <a:off x="1648557" y="2703265"/>
            <a:ext cx="8894885" cy="1007089"/>
          </a:xfrm>
          <a:solidFill>
            <a:schemeClr val="accent6">
              <a:lumMod val="60000"/>
              <a:lumOff val="40000"/>
            </a:schemeClr>
          </a:solidFill>
        </p:spPr>
        <p:txBody>
          <a:bodyPr>
            <a:normAutofit/>
          </a:bodyPr>
          <a:lstStyle/>
          <a:p>
            <a:pPr algn="ctr"/>
            <a:r>
              <a:rPr lang="fr-FR" sz="4000" b="1" dirty="0"/>
              <a:t>Partie 1 : Présentations</a:t>
            </a:r>
          </a:p>
        </p:txBody>
      </p:sp>
    </p:spTree>
    <p:extLst>
      <p:ext uri="{BB962C8B-B14F-4D97-AF65-F5344CB8AC3E}">
        <p14:creationId xmlns:p14="http://schemas.microsoft.com/office/powerpoint/2010/main" val="233799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81494412-034A-F2B6-BF9A-852CC011E314}"/>
              </a:ext>
            </a:extLst>
          </p:cNvPr>
          <p:cNvSpPr>
            <a:spLocks noGrp="1"/>
          </p:cNvSpPr>
          <p:nvPr>
            <p:ph idx="4294967295"/>
          </p:nvPr>
        </p:nvSpPr>
        <p:spPr>
          <a:xfrm>
            <a:off x="1091012" y="1092507"/>
            <a:ext cx="9625013" cy="5277394"/>
          </a:xfrm>
        </p:spPr>
        <p:txBody>
          <a:bodyPr>
            <a:normAutofit fontScale="25000" lnSpcReduction="20000"/>
          </a:bodyPr>
          <a:lstStyle/>
          <a:p>
            <a:pPr marL="457920" indent="-457200">
              <a:lnSpc>
                <a:spcPct val="120000"/>
              </a:lnSpc>
              <a:spcBef>
                <a:spcPts val="1001"/>
              </a:spcBef>
              <a:spcAft>
                <a:spcPts val="1199"/>
              </a:spcAft>
              <a:buClr>
                <a:srgbClr val="A53010"/>
              </a:buClr>
              <a:buFont typeface="Wingdings" panose="05000000000000000000" pitchFamily="2" charset="2"/>
              <a:buChar char="Ø"/>
            </a:pPr>
            <a:r>
              <a:rPr lang="fr-FR" sz="5500" b="1"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rPr>
              <a:t>Localisation et contact :</a:t>
            </a:r>
          </a:p>
          <a:p>
            <a:pPr marL="722313" indent="-273050" algn="just">
              <a:lnSpc>
                <a:spcPct val="120000"/>
              </a:lnSpc>
              <a:spcBef>
                <a:spcPts val="1001"/>
              </a:spcBef>
              <a:buFont typeface="Wingdings" panose="05000000000000000000" pitchFamily="2" charset="2"/>
              <a:buChar char="Ø"/>
            </a:pPr>
            <a:r>
              <a:rPr lang="fr-FR" sz="5500" b="1" spc="-1" dirty="0">
                <a:solidFill>
                  <a:srgbClr val="000000"/>
                </a:solidFill>
                <a:uFill>
                  <a:solidFill>
                    <a:srgbClr val="FFFFFF"/>
                  </a:solidFill>
                </a:uFill>
                <a:latin typeface="Times New Roman" panose="02020603050405020304" pitchFamily="18" charset="0"/>
                <a:cs typeface="Times New Roman" panose="02020603050405020304" pitchFamily="18" charset="0"/>
              </a:rPr>
              <a:t>Date création :  </a:t>
            </a:r>
            <a:r>
              <a:rPr lang="fr-FR" sz="5500" spc="-1" dirty="0">
                <a:solidFill>
                  <a:srgbClr val="000000"/>
                </a:solidFill>
                <a:uFill>
                  <a:solidFill>
                    <a:srgbClr val="FFFFFF"/>
                  </a:solidFill>
                </a:uFill>
                <a:latin typeface="Times New Roman" panose="02020603050405020304" pitchFamily="18" charset="0"/>
                <a:cs typeface="Times New Roman" panose="02020603050405020304" pitchFamily="18" charset="0"/>
              </a:rPr>
              <a:t>24 Mai 1983</a:t>
            </a:r>
            <a:endParaRPr lang="fr-FR" sz="550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722313" indent="-273050" algn="just">
              <a:lnSpc>
                <a:spcPct val="120000"/>
              </a:lnSpc>
              <a:spcBef>
                <a:spcPts val="1001"/>
              </a:spcBef>
              <a:buFont typeface="Wingdings" panose="05000000000000000000" pitchFamily="2" charset="2"/>
              <a:buChar char="Ø"/>
            </a:pPr>
            <a:r>
              <a:rPr lang="fr-FR" sz="5500" b="1" spc="-1" dirty="0">
                <a:solidFill>
                  <a:srgbClr val="000000"/>
                </a:solidFill>
                <a:uFill>
                  <a:solidFill>
                    <a:srgbClr val="FFFFFF"/>
                  </a:solidFill>
                </a:uFill>
                <a:latin typeface="Times New Roman" panose="02020603050405020304" pitchFamily="18" charset="0"/>
                <a:cs typeface="Times New Roman" panose="02020603050405020304" pitchFamily="18" charset="0"/>
              </a:rPr>
              <a:t>Adresse : </a:t>
            </a:r>
            <a:r>
              <a:rPr lang="fr-FR" sz="5500" b="1"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rPr>
              <a:t> </a:t>
            </a:r>
            <a:r>
              <a:rPr lang="fr-FR" sz="55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Tanambao - Antaninarenina Fianarantsoa, B.P. : 1487, Code Postal : 301, </a:t>
            </a:r>
          </a:p>
          <a:p>
            <a:pPr marL="722313" indent="-273050" algn="just">
              <a:lnSpc>
                <a:spcPct val="120000"/>
              </a:lnSpc>
              <a:spcBef>
                <a:spcPts val="1001"/>
              </a:spcBef>
              <a:buFont typeface="Wingdings" panose="05000000000000000000" pitchFamily="2" charset="2"/>
              <a:buChar char="Ø"/>
            </a:pPr>
            <a:r>
              <a:rPr lang="fr-FR" sz="55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Tel :  </a:t>
            </a:r>
            <a:r>
              <a:rPr lang="fr-FR" sz="5500" dirty="0">
                <a:effectLst/>
                <a:latin typeface="Times New Roman" panose="02020603050405020304" pitchFamily="18" charset="0"/>
                <a:ea typeface="Times New Roman" panose="02020603050405020304" pitchFamily="18" charset="0"/>
              </a:rPr>
              <a:t>034 05 733 36 ou 033 42 302 02</a:t>
            </a:r>
            <a:r>
              <a:rPr lang="fr-FR" sz="55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a:t>
            </a:r>
            <a:endParaRPr lang="fr-FR" sz="5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722313" indent="-273050" algn="just">
              <a:lnSpc>
                <a:spcPct val="120000"/>
              </a:lnSpc>
              <a:spcBef>
                <a:spcPts val="1001"/>
              </a:spcBef>
              <a:buFont typeface="Wingdings" panose="05000000000000000000" pitchFamily="2" charset="2"/>
              <a:buChar char="Ø"/>
            </a:pPr>
            <a:r>
              <a:rPr lang="fr-FR" sz="55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E-mail : </a:t>
            </a:r>
            <a:r>
              <a:rPr lang="fr-FR" sz="5500" b="0" i="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eni@univ-fianar.mg</a:t>
            </a:r>
            <a:r>
              <a:rPr lang="fr-FR" sz="55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site web: </a:t>
            </a:r>
            <a:r>
              <a:rPr lang="fr-FR" sz="5500" b="0" i="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www.univ-fianar.mg/eni</a:t>
            </a:r>
            <a:endParaRPr lang="fr-FR" sz="5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457920" indent="-457200" algn="just">
              <a:lnSpc>
                <a:spcPct val="120000"/>
              </a:lnSpc>
              <a:spcBef>
                <a:spcPts val="1001"/>
              </a:spcBef>
              <a:buClr>
                <a:srgbClr val="A53010"/>
              </a:buClr>
              <a:buFont typeface="Wingdings" panose="05000000000000000000" pitchFamily="2" charset="2"/>
              <a:buChar char="Ø"/>
            </a:pPr>
            <a:r>
              <a:rPr lang="fr-FR" sz="55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Mission :</a:t>
            </a:r>
          </a:p>
          <a:p>
            <a:pPr marL="722313" indent="-273050" algn="just">
              <a:lnSpc>
                <a:spcPct val="170000"/>
              </a:lnSpc>
              <a:spcBef>
                <a:spcPts val="1001"/>
              </a:spcBef>
              <a:buFont typeface="Wingdings" panose="05000000000000000000" pitchFamily="2" charset="2"/>
              <a:buChar char="Ø"/>
            </a:pPr>
            <a:r>
              <a:rPr lang="fr-FR" sz="55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L’ENI a pour mission de former des spécialistes informaticiens compétents et opérationnels de différents niveaux.</a:t>
            </a:r>
            <a:endParaRPr lang="fr-FR" sz="5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457920" indent="-457200" algn="just">
              <a:lnSpc>
                <a:spcPct val="120000"/>
              </a:lnSpc>
              <a:spcBef>
                <a:spcPts val="1001"/>
              </a:spcBef>
              <a:spcAft>
                <a:spcPts val="1199"/>
              </a:spcAft>
              <a:buClr>
                <a:srgbClr val="A53010"/>
              </a:buClr>
              <a:buFont typeface="Wingdings" panose="05000000000000000000" pitchFamily="2" charset="2"/>
              <a:buChar char="Ø"/>
            </a:pPr>
            <a:r>
              <a:rPr lang="fr-FR" sz="55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Domaine de spécialisation :</a:t>
            </a:r>
            <a:endParaRPr lang="fr-FR" sz="5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801688" indent="-352425" algn="just">
              <a:lnSpc>
                <a:spcPct val="120000"/>
              </a:lnSpc>
              <a:spcBef>
                <a:spcPts val="1001"/>
              </a:spcBef>
              <a:buFont typeface="Wingdings" panose="05000000000000000000" pitchFamily="2" charset="2"/>
              <a:buChar char="Ø"/>
              <a:tabLst>
                <a:tab pos="722313" algn="l"/>
              </a:tabLst>
            </a:pPr>
            <a:r>
              <a:rPr lang="fr-FR" sz="55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Génie logiciel et Base de Données</a:t>
            </a:r>
            <a:endParaRPr lang="fr-FR" sz="5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801688" indent="-352425" algn="just">
              <a:lnSpc>
                <a:spcPct val="120000"/>
              </a:lnSpc>
              <a:spcBef>
                <a:spcPts val="1001"/>
              </a:spcBef>
              <a:buFont typeface="Wingdings" panose="05000000000000000000" pitchFamily="2" charset="2"/>
              <a:buChar char="Ø"/>
              <a:tabLst>
                <a:tab pos="722313" algn="l"/>
              </a:tabLst>
            </a:pPr>
            <a:r>
              <a:rPr lang="fr-FR" sz="55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Administration des Systèmes et Réseaux</a:t>
            </a:r>
            <a:endParaRPr lang="fr-FR" sz="5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801688" indent="-352425" algn="just">
              <a:lnSpc>
                <a:spcPct val="120000"/>
              </a:lnSpc>
              <a:spcBef>
                <a:spcPts val="1001"/>
              </a:spcBef>
              <a:buFont typeface="Wingdings" panose="05000000000000000000" pitchFamily="2" charset="2"/>
              <a:buChar char="Ø"/>
              <a:tabLst>
                <a:tab pos="722313" algn="l"/>
              </a:tabLst>
            </a:pPr>
            <a:r>
              <a:rPr lang="fr-FR" sz="55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Informatique Générale</a:t>
            </a:r>
            <a:endParaRPr lang="fr-FR" sz="5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801688" indent="-352425" algn="just">
              <a:lnSpc>
                <a:spcPct val="120000"/>
              </a:lnSpc>
              <a:spcBef>
                <a:spcPts val="1001"/>
              </a:spcBef>
              <a:buFont typeface="Wingdings" panose="05000000000000000000" pitchFamily="2" charset="2"/>
              <a:buChar char="Ø"/>
              <a:tabLst>
                <a:tab pos="722313" algn="l"/>
              </a:tabLst>
            </a:pPr>
            <a:r>
              <a:rPr lang="fr-FR" sz="55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Modélisation informatique et mathématique des Systèmes complexes.</a:t>
            </a:r>
            <a:endParaRPr lang="fr-FR" sz="5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endParaRPr lang="fr-FR" dirty="0"/>
          </a:p>
        </p:txBody>
      </p:sp>
      <p:sp>
        <p:nvSpPr>
          <p:cNvPr id="4" name="Titre 3">
            <a:extLst>
              <a:ext uri="{FF2B5EF4-FFF2-40B4-BE49-F238E27FC236}">
                <a16:creationId xmlns:a16="http://schemas.microsoft.com/office/drawing/2014/main" id="{30EB1559-8079-090D-E013-392E544B458C}"/>
              </a:ext>
            </a:extLst>
          </p:cNvPr>
          <p:cNvSpPr>
            <a:spLocks noGrp="1"/>
          </p:cNvSpPr>
          <p:nvPr>
            <p:ph type="title" idx="4294967295"/>
          </p:nvPr>
        </p:nvSpPr>
        <p:spPr>
          <a:xfrm>
            <a:off x="0" y="333375"/>
            <a:ext cx="9625013" cy="581025"/>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3200" dirty="0">
                <a:solidFill>
                  <a:schemeClr val="tx1"/>
                </a:solidFill>
              </a:rPr>
              <a:t>Présentation de l’ENI</a:t>
            </a:r>
          </a:p>
        </p:txBody>
      </p:sp>
      <p:pic>
        <p:nvPicPr>
          <p:cNvPr id="5" name="Image 4">
            <a:extLst>
              <a:ext uri="{FF2B5EF4-FFF2-40B4-BE49-F238E27FC236}">
                <a16:creationId xmlns:a16="http://schemas.microsoft.com/office/drawing/2014/main" id="{49F7EAB9-461C-836F-95ED-074652F11B8F}"/>
              </a:ext>
            </a:extLst>
          </p:cNvPr>
          <p:cNvPicPr>
            <a:picLocks noChangeAspect="1"/>
          </p:cNvPicPr>
          <p:nvPr/>
        </p:nvPicPr>
        <p:blipFill>
          <a:blip r:embed="rId3"/>
          <a:srcRect/>
          <a:stretch>
            <a:fillRect/>
          </a:stretch>
        </p:blipFill>
        <p:spPr bwMode="auto">
          <a:xfrm>
            <a:off x="10687459" y="728816"/>
            <a:ext cx="729215" cy="727381"/>
          </a:xfrm>
          <a:prstGeom prst="rect">
            <a:avLst/>
          </a:prstGeom>
          <a:noFill/>
          <a:ln w="9525">
            <a:noFill/>
            <a:miter lim="800000"/>
            <a:headEnd/>
            <a:tailEnd/>
          </a:ln>
        </p:spPr>
      </p:pic>
    </p:spTree>
    <p:extLst>
      <p:ext uri="{BB962C8B-B14F-4D97-AF65-F5344CB8AC3E}">
        <p14:creationId xmlns:p14="http://schemas.microsoft.com/office/powerpoint/2010/main" val="3868306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86340ED9-FAFA-92D8-865B-A7E9A64B9C0E}"/>
              </a:ext>
            </a:extLst>
          </p:cNvPr>
          <p:cNvSpPr txBox="1">
            <a:spLocks/>
          </p:cNvSpPr>
          <p:nvPr/>
        </p:nvSpPr>
        <p:spPr>
          <a:xfrm>
            <a:off x="838198" y="333042"/>
            <a:ext cx="9624648" cy="581358"/>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fr-FR" sz="3200" dirty="0">
                <a:solidFill>
                  <a:schemeClr val="tx1"/>
                </a:solidFill>
              </a:rPr>
              <a:t>Organigramme de l’ENI</a:t>
            </a:r>
          </a:p>
        </p:txBody>
      </p:sp>
      <p:pic>
        <p:nvPicPr>
          <p:cNvPr id="5" name="Image 4">
            <a:extLst>
              <a:ext uri="{FF2B5EF4-FFF2-40B4-BE49-F238E27FC236}">
                <a16:creationId xmlns:a16="http://schemas.microsoft.com/office/drawing/2014/main" id="{5F2250A8-0BE2-215A-3A43-109ABBCCB4B6}"/>
              </a:ext>
            </a:extLst>
          </p:cNvPr>
          <p:cNvPicPr>
            <a:picLocks noChangeAspect="1"/>
          </p:cNvPicPr>
          <p:nvPr/>
        </p:nvPicPr>
        <p:blipFill>
          <a:blip r:embed="rId3"/>
          <a:srcRect/>
          <a:stretch>
            <a:fillRect/>
          </a:stretch>
        </p:blipFill>
        <p:spPr bwMode="auto">
          <a:xfrm>
            <a:off x="10624585" y="365126"/>
            <a:ext cx="729215" cy="727381"/>
          </a:xfrm>
          <a:prstGeom prst="rect">
            <a:avLst/>
          </a:prstGeom>
          <a:noFill/>
          <a:ln w="9525">
            <a:noFill/>
            <a:miter lim="800000"/>
            <a:headEnd/>
            <a:tailEnd/>
          </a:ln>
        </p:spPr>
      </p:pic>
      <p:sp>
        <p:nvSpPr>
          <p:cNvPr id="6" name="Rectangle 5">
            <a:extLst>
              <a:ext uri="{FF2B5EF4-FFF2-40B4-BE49-F238E27FC236}">
                <a16:creationId xmlns:a16="http://schemas.microsoft.com/office/drawing/2014/main" id="{9AA68CA4-F279-BE36-063F-2A0B5B0FA9D6}"/>
              </a:ext>
            </a:extLst>
          </p:cNvPr>
          <p:cNvSpPr/>
          <p:nvPr/>
        </p:nvSpPr>
        <p:spPr>
          <a:xfrm>
            <a:off x="0" y="1161970"/>
            <a:ext cx="5208640" cy="448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Wingdings" panose="05000000000000000000" pitchFamily="2" charset="2"/>
              <a:buChar char="Ø"/>
            </a:pPr>
            <a:r>
              <a:rPr lang="fr-FR" sz="2000" dirty="0">
                <a:solidFill>
                  <a:schemeClr val="tx1"/>
                </a:solidFill>
              </a:rPr>
              <a:t>Organigramme actuel de l’école</a:t>
            </a:r>
          </a:p>
        </p:txBody>
      </p:sp>
      <p:pic>
        <p:nvPicPr>
          <p:cNvPr id="2" name="Image 1">
            <a:extLst>
              <a:ext uri="{FF2B5EF4-FFF2-40B4-BE49-F238E27FC236}">
                <a16:creationId xmlns:a16="http://schemas.microsoft.com/office/drawing/2014/main" id="{43C55D2C-259E-958D-94D6-952DCF6BC8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42754" y="1545208"/>
            <a:ext cx="6779623" cy="4620461"/>
          </a:xfrm>
          <a:prstGeom prst="rect">
            <a:avLst/>
          </a:prstGeom>
        </p:spPr>
      </p:pic>
    </p:spTree>
    <p:extLst>
      <p:ext uri="{BB962C8B-B14F-4D97-AF65-F5344CB8AC3E}">
        <p14:creationId xmlns:p14="http://schemas.microsoft.com/office/powerpoint/2010/main" val="1328502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81494412-034A-F2B6-BF9A-852CC011E314}"/>
              </a:ext>
            </a:extLst>
          </p:cNvPr>
          <p:cNvSpPr>
            <a:spLocks noGrp="1"/>
          </p:cNvSpPr>
          <p:nvPr>
            <p:ph idx="4294967295"/>
          </p:nvPr>
        </p:nvSpPr>
        <p:spPr>
          <a:xfrm>
            <a:off x="744582" y="1203158"/>
            <a:ext cx="10609219" cy="4926945"/>
          </a:xfrm>
        </p:spPr>
        <p:txBody>
          <a:bodyPr>
            <a:normAutofit fontScale="92500" lnSpcReduction="10000"/>
          </a:bodyPr>
          <a:lstStyle/>
          <a:p>
            <a:pPr marL="457920" indent="-457200">
              <a:lnSpc>
                <a:spcPct val="120000"/>
              </a:lnSpc>
              <a:spcBef>
                <a:spcPts val="1001"/>
              </a:spcBef>
              <a:spcAft>
                <a:spcPts val="1199"/>
              </a:spcAft>
              <a:buClr>
                <a:srgbClr val="A53010"/>
              </a:buClr>
              <a:buFont typeface="Wingdings" panose="05000000000000000000" pitchFamily="2" charset="2"/>
              <a:buChar char="Ø"/>
            </a:pPr>
            <a:r>
              <a:rPr lang="fr-FR" sz="2400" b="1"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rPr>
              <a:t>Historique et site web</a:t>
            </a:r>
          </a:p>
          <a:p>
            <a:pPr marL="915120" lvl="1" indent="-457200">
              <a:lnSpc>
                <a:spcPct val="120000"/>
              </a:lnSpc>
              <a:spcBef>
                <a:spcPts val="1001"/>
              </a:spcBef>
              <a:spcAft>
                <a:spcPts val="1199"/>
              </a:spcAft>
              <a:buClr>
                <a:srgbClr val="A53010"/>
              </a:buClr>
              <a:buFont typeface="Wingdings" panose="05000000000000000000" pitchFamily="2" charset="2"/>
              <a:buChar char="Ø"/>
            </a:pPr>
            <a:r>
              <a:rPr lang="fr-FR" spc="-1" dirty="0">
                <a:solidFill>
                  <a:srgbClr val="000000"/>
                </a:solidFill>
                <a:uFill>
                  <a:solidFill>
                    <a:srgbClr val="FFFFFF"/>
                  </a:solidFill>
                </a:uFill>
                <a:latin typeface="Times New Roman" panose="02020603050405020304" pitchFamily="18" charset="0"/>
                <a:cs typeface="Times New Roman" panose="02020603050405020304" pitchFamily="18" charset="0"/>
              </a:rPr>
              <a:t>Software </a:t>
            </a:r>
            <a:r>
              <a:rPr lang="fr-FR" spc="-1" dirty="0" err="1">
                <a:solidFill>
                  <a:srgbClr val="000000"/>
                </a:solidFill>
                <a:uFill>
                  <a:solidFill>
                    <a:srgbClr val="FFFFFF"/>
                  </a:solidFill>
                </a:uFill>
                <a:latin typeface="Times New Roman" panose="02020603050405020304" pitchFamily="18" charset="0"/>
                <a:cs typeface="Times New Roman" panose="02020603050405020304" pitchFamily="18" charset="0"/>
              </a:rPr>
              <a:t>Activities</a:t>
            </a:r>
            <a:r>
              <a:rPr lang="fr-FR" spc="-1" dirty="0">
                <a:solidFill>
                  <a:srgbClr val="000000"/>
                </a:solidFill>
                <a:uFill>
                  <a:solidFill>
                    <a:srgbClr val="FFFFFF"/>
                  </a:solidFill>
                </a:uFill>
                <a:latin typeface="Times New Roman" panose="02020603050405020304" pitchFamily="18" charset="0"/>
                <a:cs typeface="Times New Roman" panose="02020603050405020304" pitchFamily="18" charset="0"/>
              </a:rPr>
              <a:t>  and Images Management Limited ( SAIM Ltd ) a été crée en </a:t>
            </a:r>
            <a:r>
              <a:rPr lang="fr-FR"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rPr>
              <a:t> Novembre 2002 </a:t>
            </a:r>
          </a:p>
          <a:p>
            <a:pPr marL="915120" lvl="1" indent="-457200">
              <a:lnSpc>
                <a:spcPct val="120000"/>
              </a:lnSpc>
              <a:spcBef>
                <a:spcPts val="1001"/>
              </a:spcBef>
              <a:spcAft>
                <a:spcPts val="1199"/>
              </a:spcAft>
              <a:buClr>
                <a:srgbClr val="A53010"/>
              </a:buClr>
              <a:buFont typeface="Wingdings" panose="05000000000000000000" pitchFamily="2" charset="2"/>
              <a:buChar char="Ø"/>
            </a:pPr>
            <a:r>
              <a:rPr lang="en-US" sz="1800" dirty="0">
                <a:solidFill>
                  <a:srgbClr val="000000"/>
                </a:solidFill>
                <a:effectLst/>
                <a:latin typeface="Times New Roman" panose="02020603050405020304" pitchFamily="18" charset="0"/>
                <a:ea typeface="Times New Roman" panose="02020603050405020304" pitchFamily="18" charset="0"/>
              </a:rPr>
              <a:t>Site Web : </a:t>
            </a:r>
            <a:r>
              <a:rPr lang="en-US" sz="1800" u="sng" dirty="0">
                <a:solidFill>
                  <a:srgbClr val="0563C1"/>
                </a:solidFill>
                <a:effectLst/>
                <a:latin typeface="Times New Roman" panose="02020603050405020304" pitchFamily="18" charset="0"/>
                <a:ea typeface="Times New Roman" panose="02020603050405020304" pitchFamily="18" charset="0"/>
                <a:hlinkClick r:id="rId3"/>
              </a:rPr>
              <a:t>www.saimltd.mu</a:t>
            </a:r>
            <a:endParaRPr lang="fr-FR"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457920" indent="-457200">
              <a:lnSpc>
                <a:spcPct val="120000"/>
              </a:lnSpc>
              <a:spcBef>
                <a:spcPts val="1001"/>
              </a:spcBef>
              <a:spcAft>
                <a:spcPts val="1199"/>
              </a:spcAft>
              <a:buClr>
                <a:srgbClr val="A53010"/>
              </a:buClr>
              <a:buFont typeface="Wingdings" panose="05000000000000000000" pitchFamily="2" charset="2"/>
              <a:buChar char="Ø"/>
            </a:pPr>
            <a:r>
              <a:rPr lang="fr-FR" sz="2400" b="1"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rPr>
              <a:t>Localisation et contact :</a:t>
            </a:r>
            <a:endParaRPr lang="fr-FR" sz="240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722313" indent="-273050" algn="just">
              <a:lnSpc>
                <a:spcPct val="120000"/>
              </a:lnSpc>
              <a:spcBef>
                <a:spcPts val="1001"/>
              </a:spcBef>
              <a:buFont typeface="Wingdings" panose="05000000000000000000" pitchFamily="2" charset="2"/>
              <a:buChar char="Ø"/>
            </a:pPr>
            <a:r>
              <a:rPr lang="fr-FR" sz="2400" b="1" spc="-1" dirty="0">
                <a:solidFill>
                  <a:srgbClr val="000000"/>
                </a:solidFill>
                <a:uFill>
                  <a:solidFill>
                    <a:srgbClr val="FFFFFF"/>
                  </a:solidFill>
                </a:uFill>
                <a:latin typeface="Times New Roman" panose="02020603050405020304" pitchFamily="18" charset="0"/>
                <a:cs typeface="Times New Roman" panose="02020603050405020304" pitchFamily="18" charset="0"/>
              </a:rPr>
              <a:t>Adresse : </a:t>
            </a:r>
            <a:r>
              <a:rPr lang="fr-FR" sz="2400" b="1"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6th Floor Newry Complex | 85 St Jean Street | Quatre Bornes | Maurice</a:t>
            </a:r>
          </a:p>
          <a:p>
            <a:pPr marL="722313" indent="-273050" algn="just">
              <a:lnSpc>
                <a:spcPct val="120000"/>
              </a:lnSpc>
              <a:spcBef>
                <a:spcPts val="1001"/>
              </a:spcBef>
              <a:buFont typeface="Wingdings" panose="05000000000000000000" pitchFamily="2" charset="2"/>
              <a:buChar char="Ø"/>
            </a:pPr>
            <a:r>
              <a:rPr lang="fr-FR" sz="24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Tel :  +</a:t>
            </a:r>
            <a:r>
              <a:rPr lang="fr-FR" sz="1800" dirty="0">
                <a:solidFill>
                  <a:srgbClr val="000000"/>
                </a:solidFill>
                <a:effectLst/>
                <a:latin typeface="Times New Roman" panose="02020603050405020304" pitchFamily="18" charset="0"/>
                <a:ea typeface="Times New Roman" panose="02020603050405020304" pitchFamily="18" charset="0"/>
              </a:rPr>
              <a:t>2304630079</a:t>
            </a:r>
            <a:endParaRPr lang="fr-FR" sz="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457920" indent="-457200" algn="just">
              <a:lnSpc>
                <a:spcPct val="120000"/>
              </a:lnSpc>
              <a:spcBef>
                <a:spcPts val="1001"/>
              </a:spcBef>
              <a:buClr>
                <a:srgbClr val="A53010"/>
              </a:buClr>
              <a:buFont typeface="Wingdings" panose="05000000000000000000" pitchFamily="2" charset="2"/>
              <a:buChar char="Ø"/>
            </a:pPr>
            <a:r>
              <a:rPr lang="fr-FR" sz="2400" b="1"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Objectifs</a:t>
            </a:r>
            <a:r>
              <a:rPr lang="fr-FR" sz="24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a:t>
            </a:r>
          </a:p>
          <a:p>
            <a:pPr marL="722313" indent="-273050" algn="just">
              <a:lnSpc>
                <a:spcPct val="170000"/>
              </a:lnSpc>
              <a:spcBef>
                <a:spcPts val="1001"/>
              </a:spcBef>
              <a:buFont typeface="Wingdings" panose="05000000000000000000" pitchFamily="2" charset="2"/>
              <a:buChar char="Ø"/>
            </a:pPr>
            <a:r>
              <a:rPr lang="fr-FR" sz="2000" spc="25" dirty="0">
                <a:solidFill>
                  <a:schemeClr val="tx1"/>
                </a:solidFill>
                <a:effectLst/>
                <a:latin typeface="Times New Roman" panose="02020603050405020304" pitchFamily="18" charset="0"/>
                <a:ea typeface="Calibri" panose="020F0502020204030204" pitchFamily="34" charset="0"/>
              </a:rPr>
              <a:t>Concevoir une application sur mesure qui répond aux besoins spécifiques des entreprises</a:t>
            </a:r>
          </a:p>
          <a:p>
            <a:pPr marL="915120" lvl="1" indent="-457200" algn="just">
              <a:lnSpc>
                <a:spcPct val="120000"/>
              </a:lnSpc>
              <a:spcBef>
                <a:spcPts val="1001"/>
              </a:spcBef>
              <a:buClr>
                <a:srgbClr val="A53010"/>
              </a:buClr>
              <a:buFont typeface="Wingdings" panose="05000000000000000000" pitchFamily="2" charset="2"/>
              <a:buChar char="Ø"/>
            </a:pPr>
            <a:endParaRPr lang="fr-FR"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722313" indent="-273050" algn="just">
              <a:lnSpc>
                <a:spcPct val="170000"/>
              </a:lnSpc>
              <a:spcBef>
                <a:spcPts val="1001"/>
              </a:spcBef>
              <a:buFont typeface="Wingdings" panose="05000000000000000000" pitchFamily="2" charset="2"/>
              <a:buChar char="Ø"/>
            </a:pPr>
            <a:endParaRPr lang="fr-FR" sz="2400" b="1"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722313" indent="-273050" algn="just">
              <a:lnSpc>
                <a:spcPct val="170000"/>
              </a:lnSpc>
              <a:spcBef>
                <a:spcPts val="1001"/>
              </a:spcBef>
              <a:buFont typeface="Wingdings" panose="05000000000000000000" pitchFamily="2" charset="2"/>
              <a:buChar char="Ø"/>
            </a:pPr>
            <a:endParaRPr lang="fr-FR" sz="2400" spc="25" dirty="0">
              <a:solidFill>
                <a:schemeClr val="tx1"/>
              </a:solidFill>
              <a:effectLst/>
              <a:latin typeface="Times New Roman" panose="02020603050405020304" pitchFamily="18" charset="0"/>
              <a:ea typeface="Calibri" panose="020F0502020204030204" pitchFamily="34" charset="0"/>
            </a:endParaRPr>
          </a:p>
        </p:txBody>
      </p:sp>
      <p:sp>
        <p:nvSpPr>
          <p:cNvPr id="4" name="Titre 3">
            <a:extLst>
              <a:ext uri="{FF2B5EF4-FFF2-40B4-BE49-F238E27FC236}">
                <a16:creationId xmlns:a16="http://schemas.microsoft.com/office/drawing/2014/main" id="{30EB1559-8079-090D-E013-392E544B458C}"/>
              </a:ext>
            </a:extLst>
          </p:cNvPr>
          <p:cNvSpPr>
            <a:spLocks noGrp="1"/>
          </p:cNvSpPr>
          <p:nvPr>
            <p:ph type="title" idx="4294967295"/>
          </p:nvPr>
        </p:nvSpPr>
        <p:spPr>
          <a:xfrm>
            <a:off x="0" y="333375"/>
            <a:ext cx="9134475" cy="581025"/>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3000" dirty="0">
                <a:solidFill>
                  <a:schemeClr val="tx1"/>
                </a:solidFill>
              </a:rPr>
              <a:t>Présentation de la société SAIM Ltd</a:t>
            </a:r>
          </a:p>
        </p:txBody>
      </p:sp>
      <p:pic>
        <p:nvPicPr>
          <p:cNvPr id="3" name="Image 2">
            <a:extLst>
              <a:ext uri="{FF2B5EF4-FFF2-40B4-BE49-F238E27FC236}">
                <a16:creationId xmlns:a16="http://schemas.microsoft.com/office/drawing/2014/main" id="{1990A83F-C626-254A-4C75-387A066DE10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840839" y="727897"/>
            <a:ext cx="1512962" cy="706049"/>
          </a:xfrm>
          <a:prstGeom prst="rect">
            <a:avLst/>
          </a:prstGeom>
        </p:spPr>
      </p:pic>
    </p:spTree>
    <p:extLst>
      <p:ext uri="{BB962C8B-B14F-4D97-AF65-F5344CB8AC3E}">
        <p14:creationId xmlns:p14="http://schemas.microsoft.com/office/powerpoint/2010/main" val="2287009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86340ED9-FAFA-92D8-865B-A7E9A64B9C0E}"/>
              </a:ext>
            </a:extLst>
          </p:cNvPr>
          <p:cNvSpPr txBox="1">
            <a:spLocks/>
          </p:cNvSpPr>
          <p:nvPr/>
        </p:nvSpPr>
        <p:spPr>
          <a:xfrm>
            <a:off x="838198" y="367880"/>
            <a:ext cx="8823387" cy="581026"/>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fr-FR" sz="3200" dirty="0">
                <a:solidFill>
                  <a:schemeClr val="tx1"/>
                </a:solidFill>
              </a:rPr>
              <a:t>Organigramme de la Société SAIM Ltd</a:t>
            </a:r>
          </a:p>
        </p:txBody>
      </p:sp>
      <p:pic>
        <p:nvPicPr>
          <p:cNvPr id="5" name="Image 4">
            <a:extLst>
              <a:ext uri="{FF2B5EF4-FFF2-40B4-BE49-F238E27FC236}">
                <a16:creationId xmlns:a16="http://schemas.microsoft.com/office/drawing/2014/main" id="{5F2250A8-0BE2-215A-3A43-109ABBCCB4B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9781348" y="769861"/>
            <a:ext cx="1680467" cy="784218"/>
          </a:xfrm>
          <a:prstGeom prst="rect">
            <a:avLst/>
          </a:prstGeom>
          <a:noFill/>
          <a:ln w="9525">
            <a:noFill/>
            <a:miter lim="800000"/>
            <a:headEnd/>
            <a:tailEnd/>
          </a:ln>
        </p:spPr>
      </p:pic>
      <p:sp>
        <p:nvSpPr>
          <p:cNvPr id="6" name="Rectangle 5">
            <a:extLst>
              <a:ext uri="{FF2B5EF4-FFF2-40B4-BE49-F238E27FC236}">
                <a16:creationId xmlns:a16="http://schemas.microsoft.com/office/drawing/2014/main" id="{9AA68CA4-F279-BE36-063F-2A0B5B0FA9D6}"/>
              </a:ext>
            </a:extLst>
          </p:cNvPr>
          <p:cNvSpPr/>
          <p:nvPr/>
        </p:nvSpPr>
        <p:spPr>
          <a:xfrm>
            <a:off x="0" y="1161970"/>
            <a:ext cx="5208640" cy="448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Wingdings" panose="05000000000000000000" pitchFamily="2" charset="2"/>
              <a:buChar char="Ø"/>
            </a:pPr>
            <a:r>
              <a:rPr lang="fr-FR" sz="2000" dirty="0">
                <a:solidFill>
                  <a:schemeClr val="tx1"/>
                </a:solidFill>
              </a:rPr>
              <a:t>Organigramme actuel la société</a:t>
            </a:r>
          </a:p>
        </p:txBody>
      </p:sp>
      <p:pic>
        <p:nvPicPr>
          <p:cNvPr id="2" name="Image 1">
            <a:extLst>
              <a:ext uri="{FF2B5EF4-FFF2-40B4-BE49-F238E27FC236}">
                <a16:creationId xmlns:a16="http://schemas.microsoft.com/office/drawing/2014/main" id="{5AFD8B5F-AF4A-43FC-78AF-8F4503D7D152}"/>
              </a:ext>
            </a:extLst>
          </p:cNvPr>
          <p:cNvPicPr>
            <a:picLocks noChangeAspect="1"/>
          </p:cNvPicPr>
          <p:nvPr/>
        </p:nvPicPr>
        <p:blipFill>
          <a:blip r:embed="rId4"/>
          <a:stretch>
            <a:fillRect/>
          </a:stretch>
        </p:blipFill>
        <p:spPr>
          <a:xfrm>
            <a:off x="838198" y="1823921"/>
            <a:ext cx="10623617" cy="3473035"/>
          </a:xfrm>
          <a:prstGeom prst="rect">
            <a:avLst/>
          </a:prstGeom>
        </p:spPr>
      </p:pic>
    </p:spTree>
    <p:extLst>
      <p:ext uri="{BB962C8B-B14F-4D97-AF65-F5344CB8AC3E}">
        <p14:creationId xmlns:p14="http://schemas.microsoft.com/office/powerpoint/2010/main" val="1385046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0EB1559-8079-090D-E013-392E544B458C}"/>
              </a:ext>
            </a:extLst>
          </p:cNvPr>
          <p:cNvSpPr>
            <a:spLocks noGrp="1"/>
          </p:cNvSpPr>
          <p:nvPr>
            <p:ph type="title" idx="4294967295"/>
          </p:nvPr>
        </p:nvSpPr>
        <p:spPr>
          <a:xfrm>
            <a:off x="0" y="344488"/>
            <a:ext cx="9948863" cy="622300"/>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3200" dirty="0">
                <a:solidFill>
                  <a:schemeClr val="tx1"/>
                </a:solidFill>
                <a:latin typeface="Times New Roman" panose="02020603050405020304" pitchFamily="18" charset="0"/>
                <a:cs typeface="Times New Roman" panose="02020603050405020304" pitchFamily="18" charset="0"/>
              </a:rPr>
              <a:t>Description de projet</a:t>
            </a:r>
          </a:p>
        </p:txBody>
      </p:sp>
      <p:sp>
        <p:nvSpPr>
          <p:cNvPr id="2" name="Espace réservé du contenu 2">
            <a:extLst>
              <a:ext uri="{FF2B5EF4-FFF2-40B4-BE49-F238E27FC236}">
                <a16:creationId xmlns:a16="http://schemas.microsoft.com/office/drawing/2014/main" id="{817E15E1-71A7-5908-5255-A23ED940E68A}"/>
              </a:ext>
            </a:extLst>
          </p:cNvPr>
          <p:cNvSpPr txBox="1">
            <a:spLocks/>
          </p:cNvSpPr>
          <p:nvPr/>
        </p:nvSpPr>
        <p:spPr>
          <a:xfrm>
            <a:off x="1045663" y="1255384"/>
            <a:ext cx="9948863" cy="1335416"/>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20" indent="0" algn="just">
              <a:lnSpc>
                <a:spcPct val="120000"/>
              </a:lnSpc>
              <a:spcBef>
                <a:spcPts val="1001"/>
              </a:spcBef>
              <a:buClr>
                <a:srgbClr val="A53010"/>
              </a:buClr>
              <a:buNone/>
            </a:pPr>
            <a:r>
              <a:rPr lang="fr-FR" sz="28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a:t>
            </a:r>
            <a:r>
              <a:rPr lang="fr-FR" b="1"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Objectifs </a:t>
            </a:r>
            <a:endParaRPr lang="fr-FR" sz="28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722313" indent="-273050" algn="just">
              <a:lnSpc>
                <a:spcPct val="170000"/>
              </a:lnSpc>
              <a:spcBef>
                <a:spcPts val="1001"/>
              </a:spcBef>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Conception et développement d’une application web pour faciliter la création de devis des clients</a:t>
            </a:r>
            <a:endParaRPr lang="fr-FR" sz="280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8A32AA14-7ED8-FC0D-B274-AA71E17B03C0}"/>
              </a:ext>
            </a:extLst>
          </p:cNvPr>
          <p:cNvSpPr txBox="1">
            <a:spLocks/>
          </p:cNvSpPr>
          <p:nvPr/>
        </p:nvSpPr>
        <p:spPr>
          <a:xfrm>
            <a:off x="1045663" y="2590800"/>
            <a:ext cx="8024225" cy="3482005"/>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20" indent="0" algn="just">
              <a:lnSpc>
                <a:spcPct val="120000"/>
              </a:lnSpc>
              <a:spcBef>
                <a:spcPts val="1001"/>
              </a:spcBef>
              <a:buClr>
                <a:srgbClr val="A53010"/>
              </a:buClr>
              <a:buNone/>
            </a:pPr>
            <a:r>
              <a:rPr lang="fr-FR" sz="28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a:t>
            </a:r>
            <a:r>
              <a:rPr lang="fr-FR" sz="2400" b="1"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Besoins utilisateurs</a:t>
            </a:r>
            <a:endParaRPr lang="fr-FR" sz="2400" b="1"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342900" marR="0" lvl="0" indent="-342900">
              <a:lnSpc>
                <a:spcPct val="150000"/>
              </a:lnSpc>
              <a:spcAft>
                <a:spcPts val="800"/>
              </a:spcAft>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les utilisateurs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les catégories (Mélamine, Aluminium)</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ouvrage (Aluminium)</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type de profil (Aluminium)</a:t>
            </a:r>
          </a:p>
          <a:p>
            <a:pPr marL="342900" marR="0" lvl="0" indent="-342900">
              <a:lnSpc>
                <a:spcPct val="150000"/>
              </a:lnSpc>
              <a:spcAft>
                <a:spcPts val="800"/>
              </a:spcAft>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les devis (Mélamine, Aluminium)</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les clients (Mélamine, Aluminium)</a:t>
            </a:r>
          </a:p>
          <a:p>
            <a:pPr marL="342900" indent="-342900">
              <a:lnSpc>
                <a:spcPct val="150000"/>
              </a:lnSpc>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Peut consulter l’historique (payements, devis supprimer, devis obsolètes, Modification des articles)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buFont typeface="Wingdings" panose="05000000000000000000" pitchFamily="2" charset="2"/>
              <a:buChar char=""/>
              <a:tabLst>
                <a:tab pos="619125" algn="l"/>
              </a:tabLs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buFont typeface="Wingdings" panose="05000000000000000000" pitchFamily="2" charset="2"/>
              <a:buChar char=""/>
              <a:tabLst>
                <a:tab pos="619125" algn="l"/>
              </a:tabLst>
            </a:pPr>
            <a:endPar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buFont typeface="Wingdings" panose="05000000000000000000" pitchFamily="2" charset="2"/>
              <a:buChar char=""/>
              <a:tabLst>
                <a:tab pos="619125" algn="l"/>
              </a:tabLst>
            </a:pPr>
            <a:endPar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buFont typeface="Wingdings" panose="05000000000000000000" pitchFamily="2" charset="2"/>
              <a:buChar char=""/>
              <a:tabLst>
                <a:tab pos="619125" algn="l"/>
              </a:tabLs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Espace réservé du contenu 2">
            <a:extLst>
              <a:ext uri="{FF2B5EF4-FFF2-40B4-BE49-F238E27FC236}">
                <a16:creationId xmlns:a16="http://schemas.microsoft.com/office/drawing/2014/main" id="{448004DA-E804-5CB0-93C2-2B2E3B151629}"/>
              </a:ext>
            </a:extLst>
          </p:cNvPr>
          <p:cNvSpPr txBox="1">
            <a:spLocks/>
          </p:cNvSpPr>
          <p:nvPr/>
        </p:nvSpPr>
        <p:spPr>
          <a:xfrm>
            <a:off x="7362825" y="2733674"/>
            <a:ext cx="4086225" cy="296227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nSpc>
                <a:spcPct val="150000"/>
              </a:lnSpc>
              <a:spcAft>
                <a:spcPts val="800"/>
              </a:spcAft>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les types de vitres (Aluminium)</a:t>
            </a:r>
          </a:p>
          <a:p>
            <a:pPr marL="342900" marR="0" lvl="0" indent="-342900">
              <a:lnSpc>
                <a:spcPct val="150000"/>
              </a:lnSpc>
              <a:spcAft>
                <a:spcPts val="800"/>
              </a:spcAft>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les types de frais (Aluminium, Mélamine)</a:t>
            </a:r>
          </a:p>
          <a:p>
            <a:pPr marL="342900" marR="0" lvl="0" indent="-342900">
              <a:lnSpc>
                <a:spcPct val="150000"/>
              </a:lnSpc>
              <a:spcAft>
                <a:spcPts val="800"/>
              </a:spcAft>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les promotions (Aluminium)</a:t>
            </a:r>
          </a:p>
          <a:p>
            <a:pPr marL="342900" marR="0" lvl="0" indent="-342900">
              <a:lnSpc>
                <a:spcPct val="150000"/>
              </a:lnSpc>
              <a:spcAft>
                <a:spcPts val="800"/>
              </a:spcAft>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les articles (Aluminium)</a:t>
            </a:r>
          </a:p>
          <a:p>
            <a:pPr marL="342900" marR="0" lvl="0" indent="-342900">
              <a:lnSpc>
                <a:spcPct val="150000"/>
              </a:lnSpc>
              <a:spcAft>
                <a:spcPts val="800"/>
              </a:spcAft>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Gérer les paiements (Mélamine, Aluminium)</a:t>
            </a:r>
          </a:p>
          <a:p>
            <a:pPr marL="342900" marR="0" lvl="0" indent="-342900">
              <a:lnSpc>
                <a:spcPct val="150000"/>
              </a:lnSpc>
              <a:spcAft>
                <a:spcPts val="800"/>
              </a:spcAft>
              <a:buFont typeface="Wingdings" panose="05000000000000000000" pitchFamily="2" charset="2"/>
              <a:buChar char=""/>
              <a:tabLst>
                <a:tab pos="619125" algn="l"/>
              </a:tabLst>
            </a:pPr>
            <a:r>
              <a:rPr lang="fr-FR" sz="1800" spc="25" dirty="0">
                <a:effectLst/>
                <a:latin typeface="Times New Roman" panose="02020603050405020304" pitchFamily="18" charset="0"/>
                <a:ea typeface="Times New Roman" panose="02020603050405020304" pitchFamily="18" charset="0"/>
                <a:cs typeface="Times New Roman" panose="02020603050405020304" pitchFamily="18" charset="0"/>
              </a:rPr>
              <a:t>Générer des factures (Mélamine, Aluminium)</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9411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86F216-F337-7438-FCCF-B1A7F094B764}"/>
              </a:ext>
            </a:extLst>
          </p:cNvPr>
          <p:cNvSpPr>
            <a:spLocks noGrp="1"/>
          </p:cNvSpPr>
          <p:nvPr>
            <p:ph type="title"/>
          </p:nvPr>
        </p:nvSpPr>
        <p:spPr>
          <a:xfrm>
            <a:off x="1648557" y="2703265"/>
            <a:ext cx="8894885" cy="1007089"/>
          </a:xfrm>
          <a:solidFill>
            <a:schemeClr val="accent6">
              <a:lumMod val="60000"/>
              <a:lumOff val="40000"/>
            </a:schemeClr>
          </a:solidFill>
        </p:spPr>
        <p:txBody>
          <a:bodyPr>
            <a:normAutofit/>
          </a:bodyPr>
          <a:lstStyle/>
          <a:p>
            <a:pPr algn="ctr"/>
            <a:r>
              <a:rPr lang="fr-FR" sz="4000" b="1" dirty="0"/>
              <a:t>Partie 2 : Analyse et Conception</a:t>
            </a:r>
          </a:p>
        </p:txBody>
      </p:sp>
    </p:spTree>
    <p:extLst>
      <p:ext uri="{BB962C8B-B14F-4D97-AF65-F5344CB8AC3E}">
        <p14:creationId xmlns:p14="http://schemas.microsoft.com/office/powerpoint/2010/main" val="4186822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81494412-034A-F2B6-BF9A-852CC011E314}"/>
              </a:ext>
            </a:extLst>
          </p:cNvPr>
          <p:cNvSpPr>
            <a:spLocks noGrp="1"/>
          </p:cNvSpPr>
          <p:nvPr>
            <p:ph idx="4294967295"/>
          </p:nvPr>
        </p:nvSpPr>
        <p:spPr>
          <a:xfrm>
            <a:off x="711924" y="1381171"/>
            <a:ext cx="11048999" cy="4039916"/>
          </a:xfrm>
        </p:spPr>
        <p:txBody>
          <a:bodyPr>
            <a:normAutofit fontScale="62500" lnSpcReduction="20000"/>
          </a:bodyPr>
          <a:lstStyle/>
          <a:p>
            <a:pPr marL="457920" indent="-457200">
              <a:lnSpc>
                <a:spcPct val="120000"/>
              </a:lnSpc>
              <a:spcBef>
                <a:spcPts val="1001"/>
              </a:spcBef>
              <a:spcAft>
                <a:spcPts val="1199"/>
              </a:spcAft>
              <a:buClr>
                <a:srgbClr val="A53010"/>
              </a:buClr>
              <a:buFont typeface="Wingdings" panose="05000000000000000000" pitchFamily="2" charset="2"/>
              <a:buChar char="Ø"/>
            </a:pPr>
            <a:r>
              <a:rPr lang="fr-FR" sz="2400" b="1" spc="-1" dirty="0">
                <a:solidFill>
                  <a:srgbClr val="000000"/>
                </a:solidFill>
                <a:uFill>
                  <a:solidFill>
                    <a:srgbClr val="FFFFFF"/>
                  </a:solidFill>
                </a:uFill>
                <a:latin typeface="Times New Roman" panose="02020603050405020304" pitchFamily="18" charset="0"/>
                <a:cs typeface="Times New Roman" panose="02020603050405020304" pitchFamily="18" charset="0"/>
              </a:rPr>
              <a:t>Critique de l’existant</a:t>
            </a:r>
            <a:r>
              <a:rPr lang="fr-FR" sz="2400" b="1"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rPr>
              <a:t> :</a:t>
            </a:r>
            <a:endParaRPr lang="fr-FR" sz="240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722313" indent="-273050" algn="just">
              <a:lnSpc>
                <a:spcPct val="120000"/>
              </a:lnSpc>
              <a:spcBef>
                <a:spcPts val="1001"/>
              </a:spcBef>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L'élaboration de devis se fait à l'aide d'un cahier, et le client peut attendre jusqu'à une journée pour recevoir le devis</a:t>
            </a:r>
          </a:p>
          <a:p>
            <a:pPr marL="722313" indent="-273050" algn="just">
              <a:lnSpc>
                <a:spcPct val="120000"/>
              </a:lnSpc>
              <a:spcBef>
                <a:spcPts val="1001"/>
              </a:spcBef>
              <a:buFont typeface="Wingdings" panose="05000000000000000000" pitchFamily="2" charset="2"/>
              <a:buChar char="Ø"/>
            </a:pPr>
            <a:r>
              <a:rPr lang="fr-FR" sz="2300" spc="-1" dirty="0">
                <a:solidFill>
                  <a:srgbClr val="000000"/>
                </a:solidFill>
                <a:uFill>
                  <a:solidFill>
                    <a:srgbClr val="FFFFFF"/>
                  </a:solidFill>
                </a:uFill>
                <a:latin typeface="Times New Roman" panose="02020603050405020304" pitchFamily="18" charset="0"/>
                <a:cs typeface="Times New Roman" panose="02020603050405020304" pitchFamily="18" charset="0"/>
              </a:rPr>
              <a:t>Base de données non centralisé</a:t>
            </a:r>
          </a:p>
          <a:p>
            <a:pPr marL="449263" indent="0" algn="just">
              <a:lnSpc>
                <a:spcPct val="120000"/>
              </a:lnSpc>
              <a:spcBef>
                <a:spcPts val="1001"/>
              </a:spcBef>
              <a:buNone/>
            </a:pPr>
            <a:endParaRPr lang="fr-FR" sz="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457920" indent="-457200" algn="just">
              <a:lnSpc>
                <a:spcPct val="120000"/>
              </a:lnSpc>
              <a:spcBef>
                <a:spcPts val="1001"/>
              </a:spcBef>
              <a:buClr>
                <a:srgbClr val="A53010"/>
              </a:buClr>
              <a:buFont typeface="Wingdings" panose="05000000000000000000" pitchFamily="2" charset="2"/>
              <a:buChar char="Ø"/>
            </a:pPr>
            <a:r>
              <a:rPr lang="fr-FR" sz="24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Solutions Proposées :</a:t>
            </a:r>
          </a:p>
          <a:p>
            <a:pPr marL="449263" indent="0" algn="just">
              <a:lnSpc>
                <a:spcPct val="170000"/>
              </a:lnSpc>
              <a:spcBef>
                <a:spcPts val="1001"/>
              </a:spcBef>
              <a:buNone/>
            </a:pPr>
            <a:r>
              <a:rPr lang="fr-FR" sz="2400" b="1"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Solution 1 :  </a:t>
            </a:r>
            <a:r>
              <a:rPr lang="fr-FR" dirty="0">
                <a:latin typeface="Times New Roman" panose="02020603050405020304" pitchFamily="18" charset="0"/>
                <a:cs typeface="Times New Roman" panose="02020603050405020304" pitchFamily="18" charset="0"/>
              </a:rPr>
              <a:t>Acheter une application pour la gestion des devis.</a:t>
            </a:r>
          </a:p>
          <a:p>
            <a:pPr marL="449263" indent="0" algn="just">
              <a:lnSpc>
                <a:spcPct val="170000"/>
              </a:lnSpc>
              <a:spcBef>
                <a:spcPts val="1001"/>
              </a:spcBef>
              <a:buNone/>
            </a:pPr>
            <a:r>
              <a:rPr lang="fr-FR" sz="2300"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ex :   - </a:t>
            </a:r>
            <a:r>
              <a:rPr lang="fr-FR" sz="2300" spc="-1" dirty="0" err="1">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Tactidevis</a:t>
            </a:r>
            <a:r>
              <a:rPr lang="fr-FR" sz="2300"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 </a:t>
            </a:r>
            <a:r>
              <a:rPr lang="fr-FR" sz="2300"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hlinkClick r:id="rId3"/>
              </a:rPr>
              <a:t>https://www.tactidevis.fr/logiciel-menuisier</a:t>
            </a:r>
            <a:endParaRPr lang="fr-FR" sz="2300"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449263" indent="0" algn="just">
              <a:lnSpc>
                <a:spcPct val="170000"/>
              </a:lnSpc>
              <a:spcBef>
                <a:spcPts val="1001"/>
              </a:spcBef>
              <a:buNone/>
            </a:pPr>
            <a:r>
              <a:rPr lang="fr-FR" sz="23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                                  - MEDIABAT : </a:t>
            </a:r>
            <a:r>
              <a:rPr lang="fr-FR" sz="2300" b="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hlinkClick r:id="rId4"/>
              </a:rPr>
              <a:t>https://www.mediabat.com/logiciel-batiment-artisan/menuiserie/</a:t>
            </a:r>
            <a:endParaRPr lang="fr-FR" sz="230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449263" indent="0" algn="just">
              <a:lnSpc>
                <a:spcPct val="170000"/>
              </a:lnSpc>
              <a:spcBef>
                <a:spcPts val="1001"/>
              </a:spcBef>
              <a:buNone/>
            </a:pPr>
            <a:r>
              <a:rPr lang="fr-FR" sz="2300" b="1" spc="-1" dirty="0">
                <a:solidFill>
                  <a:srgbClr val="000000"/>
                </a:solidFill>
                <a:uFill>
                  <a:solidFill>
                    <a:srgbClr val="FFFFFF"/>
                  </a:solidFill>
                </a:uFill>
                <a:latin typeface="Times New Roman" panose="02020603050405020304" pitchFamily="18" charset="0"/>
                <a:cs typeface="Times New Roman" panose="02020603050405020304" pitchFamily="18" charset="0"/>
              </a:rPr>
              <a:t>       </a:t>
            </a:r>
            <a:r>
              <a:rPr lang="fr-FR" sz="2400" b="1" spc="-1" dirty="0">
                <a:solidFill>
                  <a:srgbClr val="000000"/>
                </a:solidFill>
                <a:uFill>
                  <a:solidFill>
                    <a:srgbClr val="FFFFFF"/>
                  </a:solidFill>
                </a:uFill>
                <a:latin typeface="Times New Roman" panose="02020603050405020304" pitchFamily="18" charset="0"/>
                <a:cs typeface="Times New Roman" panose="02020603050405020304" pitchFamily="18" charset="0"/>
              </a:rPr>
              <a:t>Solution 2 : </a:t>
            </a:r>
            <a:r>
              <a:rPr lang="fr-FR" dirty="0">
                <a:latin typeface="Times New Roman" panose="02020603050405020304" pitchFamily="18" charset="0"/>
                <a:cs typeface="Times New Roman" panose="02020603050405020304" pitchFamily="18" charset="0"/>
              </a:rPr>
              <a:t>Concevoir et réaliser une application web pour la gestion des devis qui répond à tous les besoins.</a:t>
            </a:r>
          </a:p>
        </p:txBody>
      </p:sp>
      <p:sp>
        <p:nvSpPr>
          <p:cNvPr id="4" name="Titre 3">
            <a:extLst>
              <a:ext uri="{FF2B5EF4-FFF2-40B4-BE49-F238E27FC236}">
                <a16:creationId xmlns:a16="http://schemas.microsoft.com/office/drawing/2014/main" id="{30EB1559-8079-090D-E013-392E544B458C}"/>
              </a:ext>
            </a:extLst>
          </p:cNvPr>
          <p:cNvSpPr>
            <a:spLocks noGrp="1"/>
          </p:cNvSpPr>
          <p:nvPr>
            <p:ph type="title" idx="4294967295"/>
          </p:nvPr>
        </p:nvSpPr>
        <p:spPr>
          <a:xfrm>
            <a:off x="0" y="333375"/>
            <a:ext cx="11049000" cy="581025"/>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3000" dirty="0">
                <a:solidFill>
                  <a:schemeClr val="tx1"/>
                </a:solidFill>
              </a:rPr>
              <a:t>Analyse Préalable</a:t>
            </a:r>
          </a:p>
        </p:txBody>
      </p:sp>
      <p:sp>
        <p:nvSpPr>
          <p:cNvPr id="3" name="ZoneTexte 2">
            <a:extLst>
              <a:ext uri="{FF2B5EF4-FFF2-40B4-BE49-F238E27FC236}">
                <a16:creationId xmlns:a16="http://schemas.microsoft.com/office/drawing/2014/main" id="{08F70F46-2EDB-75BD-7153-B24795DA1209}"/>
              </a:ext>
            </a:extLst>
          </p:cNvPr>
          <p:cNvSpPr txBox="1"/>
          <p:nvPr/>
        </p:nvSpPr>
        <p:spPr>
          <a:xfrm>
            <a:off x="711924" y="5689983"/>
            <a:ext cx="6113416" cy="395749"/>
          </a:xfrm>
          <a:prstGeom prst="rect">
            <a:avLst/>
          </a:prstGeom>
          <a:noFill/>
        </p:spPr>
        <p:txBody>
          <a:bodyPr wrap="square">
            <a:spAutoFit/>
          </a:bodyPr>
          <a:lstStyle/>
          <a:p>
            <a:pPr marL="457920" indent="-457200" algn="just">
              <a:lnSpc>
                <a:spcPct val="120000"/>
              </a:lnSpc>
              <a:spcBef>
                <a:spcPts val="1001"/>
              </a:spcBef>
              <a:buClr>
                <a:srgbClr val="A53010"/>
              </a:buClr>
              <a:buFont typeface="Wingdings" panose="05000000000000000000" pitchFamily="2" charset="2"/>
              <a:buChar char="Ø"/>
            </a:pPr>
            <a:r>
              <a:rPr lang="fr-FR" sz="1800" b="1"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Solutions Retenue : </a:t>
            </a:r>
            <a:r>
              <a:rPr lang="fr-FR" sz="180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Solution 2</a:t>
            </a:r>
          </a:p>
        </p:txBody>
      </p:sp>
    </p:spTree>
    <p:extLst>
      <p:ext uri="{BB962C8B-B14F-4D97-AF65-F5344CB8AC3E}">
        <p14:creationId xmlns:p14="http://schemas.microsoft.com/office/powerpoint/2010/main" val="3178425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81494412-034A-F2B6-BF9A-852CC011E314}"/>
              </a:ext>
            </a:extLst>
          </p:cNvPr>
          <p:cNvSpPr>
            <a:spLocks noGrp="1"/>
          </p:cNvSpPr>
          <p:nvPr>
            <p:ph idx="4294967295"/>
          </p:nvPr>
        </p:nvSpPr>
        <p:spPr>
          <a:xfrm>
            <a:off x="1143000" y="1314450"/>
            <a:ext cx="11049000" cy="5959475"/>
          </a:xfrm>
        </p:spPr>
        <p:txBody>
          <a:bodyPr>
            <a:normAutofit/>
          </a:bodyPr>
          <a:lstStyle/>
          <a:p>
            <a:pPr marL="457920" indent="-457200">
              <a:lnSpc>
                <a:spcPct val="120000"/>
              </a:lnSpc>
              <a:spcBef>
                <a:spcPts val="1001"/>
              </a:spcBef>
              <a:spcAft>
                <a:spcPts val="1199"/>
              </a:spcAft>
              <a:buClr>
                <a:srgbClr val="A53010"/>
              </a:buClr>
              <a:buFont typeface="Wingdings" panose="05000000000000000000" pitchFamily="2" charset="2"/>
              <a:buChar char="Ø"/>
            </a:pPr>
            <a:r>
              <a:rPr lang="fr-FR" sz="2400" b="1"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rPr>
              <a:t>Méthodologie et outils :</a:t>
            </a:r>
            <a:endParaRPr lang="fr-FR" sz="240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722313" indent="-273050" algn="just">
              <a:lnSpc>
                <a:spcPct val="120000"/>
              </a:lnSpc>
              <a:spcBef>
                <a:spcPts val="1001"/>
              </a:spcBef>
              <a:buFont typeface="Wingdings" panose="05000000000000000000" pitchFamily="2" charset="2"/>
              <a:buChar char="Ø"/>
            </a:pPr>
            <a:r>
              <a:rPr lang="fr-FR" sz="2000"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rPr>
              <a:t>Méthode de conception  :  AGILE ( SCRUM )</a:t>
            </a:r>
            <a:endParaRPr lang="fr-FR" sz="2000" strike="noStrike" spc="-1" dirty="0">
              <a:solidFill>
                <a:srgbClr val="000000"/>
              </a:solidFill>
              <a:uFill>
                <a:solidFill>
                  <a:srgbClr val="FFFFFF"/>
                </a:solidFill>
              </a:uFill>
              <a:latin typeface="Times New Roman" panose="02020603050405020304" pitchFamily="18" charset="0"/>
              <a:ea typeface="Times New Roman"/>
              <a:cs typeface="Times New Roman" panose="02020603050405020304" pitchFamily="18" charset="0"/>
            </a:endParaRPr>
          </a:p>
          <a:p>
            <a:pPr marL="722313" indent="-273050" algn="just">
              <a:lnSpc>
                <a:spcPct val="120000"/>
              </a:lnSpc>
              <a:spcBef>
                <a:spcPts val="1001"/>
              </a:spcBef>
              <a:buFont typeface="Wingdings" panose="05000000000000000000" pitchFamily="2" charset="2"/>
              <a:buChar char="Ø"/>
            </a:pPr>
            <a:r>
              <a:rPr lang="fr-FR" sz="2000" spc="-1" dirty="0">
                <a:solidFill>
                  <a:srgbClr val="000000"/>
                </a:solidFill>
                <a:uFill>
                  <a:solidFill>
                    <a:srgbClr val="FFFFFF"/>
                  </a:solidFill>
                </a:uFill>
                <a:latin typeface="Times New Roman" panose="02020603050405020304" pitchFamily="18" charset="0"/>
                <a:cs typeface="Times New Roman" panose="02020603050405020304" pitchFamily="18" charset="0"/>
              </a:rPr>
              <a:t>Language de modélisation : UML</a:t>
            </a:r>
          </a:p>
          <a:p>
            <a:pPr marL="722313" indent="-273050" algn="just">
              <a:lnSpc>
                <a:spcPct val="120000"/>
              </a:lnSpc>
              <a:spcBef>
                <a:spcPts val="1001"/>
              </a:spcBef>
              <a:buFont typeface="Wingdings" panose="05000000000000000000" pitchFamily="2" charset="2"/>
              <a:buChar char="Ø"/>
            </a:pPr>
            <a:r>
              <a:rPr lang="fr-FR" sz="2000" spc="-1" dirty="0">
                <a:solidFill>
                  <a:srgbClr val="000000"/>
                </a:solidFill>
                <a:uFill>
                  <a:solidFill>
                    <a:srgbClr val="FFFFFF"/>
                  </a:solidFill>
                </a:uFill>
                <a:latin typeface="Times New Roman" panose="02020603050405020304" pitchFamily="18" charset="0"/>
                <a:cs typeface="Times New Roman" panose="02020603050405020304" pitchFamily="18" charset="0"/>
              </a:rPr>
              <a:t>Outils de modélisation : Visual </a:t>
            </a:r>
            <a:r>
              <a:rPr lang="fr-FR" sz="2000" spc="-1" dirty="0" err="1">
                <a:solidFill>
                  <a:srgbClr val="000000"/>
                </a:solidFill>
                <a:uFill>
                  <a:solidFill>
                    <a:srgbClr val="FFFFFF"/>
                  </a:solidFill>
                </a:uFill>
                <a:latin typeface="Times New Roman" panose="02020603050405020304" pitchFamily="18" charset="0"/>
                <a:cs typeface="Times New Roman" panose="02020603050405020304" pitchFamily="18" charset="0"/>
              </a:rPr>
              <a:t>Paradigm</a:t>
            </a:r>
            <a:r>
              <a:rPr lang="fr-FR" sz="2000" spc="-1" dirty="0">
                <a:solidFill>
                  <a:srgbClr val="000000"/>
                </a:solidFill>
                <a:uFill>
                  <a:solidFill>
                    <a:srgbClr val="FFFFFF"/>
                  </a:solidFill>
                </a:uFill>
                <a:latin typeface="Times New Roman" panose="02020603050405020304" pitchFamily="18" charset="0"/>
                <a:cs typeface="Times New Roman" panose="02020603050405020304" pitchFamily="18" charset="0"/>
              </a:rPr>
              <a:t> 14</a:t>
            </a:r>
          </a:p>
          <a:p>
            <a:pPr marL="722313" indent="-273050" algn="just">
              <a:lnSpc>
                <a:spcPct val="120000"/>
              </a:lnSpc>
              <a:spcBef>
                <a:spcPts val="1001"/>
              </a:spcBef>
              <a:buFont typeface="Wingdings" panose="05000000000000000000" pitchFamily="2" charset="2"/>
              <a:buChar char="Ø"/>
            </a:pPr>
            <a:r>
              <a:rPr lang="fr-FR" sz="2000" spc="-1" dirty="0">
                <a:solidFill>
                  <a:srgbClr val="000000"/>
                </a:solidFill>
                <a:uFill>
                  <a:solidFill>
                    <a:srgbClr val="FFFFFF"/>
                  </a:solidFill>
                </a:uFill>
                <a:latin typeface="Times New Roman" panose="02020603050405020304" pitchFamily="18" charset="0"/>
                <a:cs typeface="Times New Roman" panose="02020603050405020304" pitchFamily="18" charset="0"/>
              </a:rPr>
              <a:t>Editeur de texte : Visual Studio Code 1,74</a:t>
            </a:r>
          </a:p>
          <a:p>
            <a:pPr marL="722313" indent="-273050" algn="just">
              <a:lnSpc>
                <a:spcPct val="120000"/>
              </a:lnSpc>
              <a:spcBef>
                <a:spcPts val="1001"/>
              </a:spcBef>
              <a:buFont typeface="Wingdings" panose="05000000000000000000" pitchFamily="2" charset="2"/>
              <a:buChar char="Ø"/>
            </a:pPr>
            <a:r>
              <a:rPr lang="fr-FR" sz="2000" spc="-1" dirty="0">
                <a:solidFill>
                  <a:srgbClr val="000000"/>
                </a:solidFill>
                <a:uFill>
                  <a:solidFill>
                    <a:srgbClr val="FFFFFF"/>
                  </a:solidFill>
                </a:uFill>
                <a:latin typeface="Times New Roman" panose="02020603050405020304" pitchFamily="18" charset="0"/>
                <a:cs typeface="Times New Roman" panose="02020603050405020304" pitchFamily="18" charset="0"/>
              </a:rPr>
              <a:t>Langages de Programmation : PHP</a:t>
            </a:r>
          </a:p>
          <a:p>
            <a:pPr marL="722313" indent="-273050" algn="just">
              <a:lnSpc>
                <a:spcPct val="120000"/>
              </a:lnSpc>
              <a:spcBef>
                <a:spcPts val="1001"/>
              </a:spcBef>
              <a:buFont typeface="Wingdings" panose="05000000000000000000" pitchFamily="2" charset="2"/>
              <a:buChar char="Ø"/>
            </a:pPr>
            <a:r>
              <a:rPr lang="fr-FR" sz="2000" spc="-1" dirty="0">
                <a:solidFill>
                  <a:srgbClr val="000000"/>
                </a:solidFill>
                <a:uFill>
                  <a:solidFill>
                    <a:srgbClr val="FFFFFF"/>
                  </a:solidFill>
                </a:uFill>
                <a:latin typeface="Times New Roman" panose="02020603050405020304" pitchFamily="18" charset="0"/>
                <a:cs typeface="Times New Roman" panose="02020603050405020304" pitchFamily="18" charset="0"/>
              </a:rPr>
              <a:t>Framework :  CodeIgniter ( PHP )</a:t>
            </a:r>
          </a:p>
          <a:p>
            <a:pPr marL="722313" indent="-273050" algn="just">
              <a:lnSpc>
                <a:spcPct val="120000"/>
              </a:lnSpc>
              <a:spcBef>
                <a:spcPts val="1001"/>
              </a:spcBef>
              <a:buFont typeface="Wingdings" panose="05000000000000000000" pitchFamily="2" charset="2"/>
              <a:buChar char="Ø"/>
            </a:pPr>
            <a:r>
              <a:rPr lang="fr-FR" sz="2000" spc="-1" dirty="0">
                <a:solidFill>
                  <a:srgbClr val="000000"/>
                </a:solidFill>
                <a:uFill>
                  <a:solidFill>
                    <a:srgbClr val="FFFFFF"/>
                  </a:solidFill>
                </a:uFill>
                <a:latin typeface="Times New Roman" panose="02020603050405020304" pitchFamily="18" charset="0"/>
                <a:cs typeface="Times New Roman" panose="02020603050405020304" pitchFamily="18" charset="0"/>
              </a:rPr>
              <a:t>SGBD :  MySQL</a:t>
            </a:r>
          </a:p>
          <a:p>
            <a:pPr marL="722313" indent="-273050" algn="just">
              <a:lnSpc>
                <a:spcPct val="120000"/>
              </a:lnSpc>
              <a:spcBef>
                <a:spcPts val="1001"/>
              </a:spcBef>
              <a:buFont typeface="Wingdings" panose="05000000000000000000" pitchFamily="2" charset="2"/>
              <a:buChar char="Ø"/>
            </a:pPr>
            <a:endParaRPr lang="fr-FR" sz="2000"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722313" indent="-273050" algn="just">
              <a:lnSpc>
                <a:spcPct val="120000"/>
              </a:lnSpc>
              <a:spcBef>
                <a:spcPts val="1001"/>
              </a:spcBef>
              <a:buFont typeface="Wingdings" panose="05000000000000000000" pitchFamily="2" charset="2"/>
              <a:buChar char="Ø"/>
            </a:pPr>
            <a:endParaRPr lang="fr-FR" sz="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0" indent="0">
              <a:buNone/>
            </a:pPr>
            <a:endParaRPr lang="fr-FR" dirty="0"/>
          </a:p>
        </p:txBody>
      </p:sp>
      <p:sp>
        <p:nvSpPr>
          <p:cNvPr id="4" name="Titre 3">
            <a:extLst>
              <a:ext uri="{FF2B5EF4-FFF2-40B4-BE49-F238E27FC236}">
                <a16:creationId xmlns:a16="http://schemas.microsoft.com/office/drawing/2014/main" id="{30EB1559-8079-090D-E013-392E544B458C}"/>
              </a:ext>
            </a:extLst>
          </p:cNvPr>
          <p:cNvSpPr>
            <a:spLocks noGrp="1"/>
          </p:cNvSpPr>
          <p:nvPr>
            <p:ph type="title" idx="4294967295"/>
          </p:nvPr>
        </p:nvSpPr>
        <p:spPr>
          <a:xfrm>
            <a:off x="0" y="276225"/>
            <a:ext cx="8347075" cy="581025"/>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3000" dirty="0">
                <a:solidFill>
                  <a:schemeClr val="tx1"/>
                </a:solidFill>
              </a:rPr>
              <a:t>Analyse Préalable</a:t>
            </a:r>
          </a:p>
        </p:txBody>
      </p:sp>
    </p:spTree>
    <p:extLst>
      <p:ext uri="{BB962C8B-B14F-4D97-AF65-F5344CB8AC3E}">
        <p14:creationId xmlns:p14="http://schemas.microsoft.com/office/powerpoint/2010/main" val="3830521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81494412-034A-F2B6-BF9A-852CC011E314}"/>
              </a:ext>
            </a:extLst>
          </p:cNvPr>
          <p:cNvSpPr>
            <a:spLocks noGrp="1"/>
          </p:cNvSpPr>
          <p:nvPr>
            <p:ph idx="4294967295"/>
          </p:nvPr>
        </p:nvSpPr>
        <p:spPr>
          <a:xfrm>
            <a:off x="1143000" y="1235075"/>
            <a:ext cx="11049000" cy="6248400"/>
          </a:xfrm>
        </p:spPr>
        <p:txBody>
          <a:bodyPr>
            <a:normAutofit/>
          </a:bodyPr>
          <a:lstStyle/>
          <a:p>
            <a:pPr marL="457920" indent="-457200">
              <a:lnSpc>
                <a:spcPct val="120000"/>
              </a:lnSpc>
              <a:spcBef>
                <a:spcPts val="1001"/>
              </a:spcBef>
              <a:spcAft>
                <a:spcPts val="1199"/>
              </a:spcAft>
              <a:buClr>
                <a:srgbClr val="A53010"/>
              </a:buClr>
              <a:buFont typeface="Wingdings" panose="05000000000000000000" pitchFamily="2" charset="2"/>
              <a:buChar char="Ø"/>
            </a:pPr>
            <a:r>
              <a:rPr lang="fr-FR" sz="1800" b="1" spc="-1" dirty="0">
                <a:solidFill>
                  <a:srgbClr val="000000"/>
                </a:solidFill>
                <a:uFill>
                  <a:solidFill>
                    <a:srgbClr val="FFFFFF"/>
                  </a:solidFill>
                </a:uFill>
                <a:latin typeface="Times New Roman" panose="02020603050405020304" pitchFamily="18" charset="0"/>
                <a:cs typeface="Times New Roman" panose="02020603050405020304" pitchFamily="18" charset="0"/>
              </a:rPr>
              <a:t>Diagramme classe globale </a:t>
            </a:r>
          </a:p>
          <a:p>
            <a:pPr marL="457920" indent="-457200">
              <a:lnSpc>
                <a:spcPct val="120000"/>
              </a:lnSpc>
              <a:spcBef>
                <a:spcPts val="1001"/>
              </a:spcBef>
              <a:spcAft>
                <a:spcPts val="1199"/>
              </a:spcAft>
              <a:buClr>
                <a:srgbClr val="A53010"/>
              </a:buClr>
              <a:buFont typeface="Wingdings" panose="05000000000000000000" pitchFamily="2" charset="2"/>
              <a:buChar char="Ø"/>
            </a:pPr>
            <a:endParaRPr lang="fr-FR" sz="1600"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722313" indent="-273050" algn="just">
              <a:lnSpc>
                <a:spcPct val="120000"/>
              </a:lnSpc>
              <a:spcBef>
                <a:spcPts val="1001"/>
              </a:spcBef>
              <a:buFont typeface="Wingdings" panose="05000000000000000000" pitchFamily="2" charset="2"/>
              <a:buChar char="Ø"/>
            </a:pPr>
            <a:endParaRPr lang="fr-FR" sz="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0" indent="0">
              <a:buNone/>
            </a:pPr>
            <a:endParaRPr lang="fr-FR" dirty="0"/>
          </a:p>
        </p:txBody>
      </p:sp>
      <p:sp>
        <p:nvSpPr>
          <p:cNvPr id="4" name="Titre 3">
            <a:extLst>
              <a:ext uri="{FF2B5EF4-FFF2-40B4-BE49-F238E27FC236}">
                <a16:creationId xmlns:a16="http://schemas.microsoft.com/office/drawing/2014/main" id="{30EB1559-8079-090D-E013-392E544B458C}"/>
              </a:ext>
            </a:extLst>
          </p:cNvPr>
          <p:cNvSpPr>
            <a:spLocks noGrp="1"/>
          </p:cNvSpPr>
          <p:nvPr>
            <p:ph type="title" idx="4294967295"/>
          </p:nvPr>
        </p:nvSpPr>
        <p:spPr>
          <a:xfrm>
            <a:off x="0" y="401638"/>
            <a:ext cx="11049000" cy="581025"/>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3000" dirty="0">
                <a:solidFill>
                  <a:schemeClr val="tx1"/>
                </a:solidFill>
              </a:rPr>
              <a:t>Analyse Conceptuelle</a:t>
            </a:r>
          </a:p>
        </p:txBody>
      </p:sp>
      <p:pic>
        <p:nvPicPr>
          <p:cNvPr id="3" name="Image 2">
            <a:extLst>
              <a:ext uri="{FF2B5EF4-FFF2-40B4-BE49-F238E27FC236}">
                <a16:creationId xmlns:a16="http://schemas.microsoft.com/office/drawing/2014/main" id="{6F37FA38-40F6-3A32-D449-4C3EC73D6A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24979" y="1077095"/>
            <a:ext cx="5954122" cy="5107806"/>
          </a:xfrm>
          <a:prstGeom prst="rect">
            <a:avLst/>
          </a:prstGeom>
        </p:spPr>
      </p:pic>
    </p:spTree>
    <p:extLst>
      <p:ext uri="{BB962C8B-B14F-4D97-AF65-F5344CB8AC3E}">
        <p14:creationId xmlns:p14="http://schemas.microsoft.com/office/powerpoint/2010/main" val="2106088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0EB1559-8079-090D-E013-392E544B458C}"/>
              </a:ext>
            </a:extLst>
          </p:cNvPr>
          <p:cNvSpPr>
            <a:spLocks noGrp="1"/>
          </p:cNvSpPr>
          <p:nvPr>
            <p:ph type="title" idx="4294967295"/>
          </p:nvPr>
        </p:nvSpPr>
        <p:spPr>
          <a:xfrm>
            <a:off x="0" y="401638"/>
            <a:ext cx="11049000" cy="581025"/>
          </a:xfrm>
          <a:prstGeom prst="homePlat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3000" dirty="0">
                <a:solidFill>
                  <a:schemeClr val="tx1"/>
                </a:solidFill>
              </a:rPr>
              <a:t>Analyse Conceptuelle</a:t>
            </a:r>
          </a:p>
        </p:txBody>
      </p:sp>
      <p:sp>
        <p:nvSpPr>
          <p:cNvPr id="6" name="Espace réservé du contenu 2">
            <a:extLst>
              <a:ext uri="{FF2B5EF4-FFF2-40B4-BE49-F238E27FC236}">
                <a16:creationId xmlns:a16="http://schemas.microsoft.com/office/drawing/2014/main" id="{81494412-034A-F2B6-BF9A-852CC011E314}"/>
              </a:ext>
            </a:extLst>
          </p:cNvPr>
          <p:cNvSpPr>
            <a:spLocks noGrp="1"/>
          </p:cNvSpPr>
          <p:nvPr>
            <p:ph idx="4294967295"/>
          </p:nvPr>
        </p:nvSpPr>
        <p:spPr>
          <a:xfrm>
            <a:off x="1143000" y="1235075"/>
            <a:ext cx="11049000" cy="6248400"/>
          </a:xfrm>
        </p:spPr>
        <p:txBody>
          <a:bodyPr>
            <a:normAutofit/>
          </a:bodyPr>
          <a:lstStyle/>
          <a:p>
            <a:pPr marL="457920" indent="-457200">
              <a:lnSpc>
                <a:spcPct val="120000"/>
              </a:lnSpc>
              <a:spcBef>
                <a:spcPts val="1001"/>
              </a:spcBef>
              <a:spcAft>
                <a:spcPts val="1199"/>
              </a:spcAft>
              <a:buClr>
                <a:srgbClr val="A53010"/>
              </a:buClr>
              <a:buFont typeface="Wingdings" panose="05000000000000000000" pitchFamily="2" charset="2"/>
              <a:buChar char="Ø"/>
            </a:pPr>
            <a:r>
              <a:rPr lang="fr-FR" sz="1800" b="1" spc="-1" dirty="0">
                <a:solidFill>
                  <a:srgbClr val="000000"/>
                </a:solidFill>
                <a:uFill>
                  <a:solidFill>
                    <a:srgbClr val="FFFFFF"/>
                  </a:solidFill>
                </a:uFill>
                <a:latin typeface="Times New Roman" panose="02020603050405020304" pitchFamily="18" charset="0"/>
                <a:cs typeface="Times New Roman" panose="02020603050405020304" pitchFamily="18" charset="0"/>
              </a:rPr>
              <a:t>Architecture de l’application</a:t>
            </a:r>
          </a:p>
          <a:p>
            <a:pPr marL="720" indent="0">
              <a:lnSpc>
                <a:spcPct val="120000"/>
              </a:lnSpc>
              <a:spcBef>
                <a:spcPts val="1001"/>
              </a:spcBef>
              <a:spcAft>
                <a:spcPts val="1199"/>
              </a:spcAft>
              <a:buClr>
                <a:srgbClr val="A53010"/>
              </a:buClr>
              <a:buNone/>
            </a:pPr>
            <a:r>
              <a:rPr lang="fr-FR" sz="1800" b="1" spc="-1" dirty="0">
                <a:solidFill>
                  <a:srgbClr val="000000"/>
                </a:solidFill>
                <a:uFill>
                  <a:solidFill>
                    <a:srgbClr val="FFFFFF"/>
                  </a:solidFill>
                </a:uFill>
                <a:latin typeface="Times New Roman" panose="02020603050405020304" pitchFamily="18" charset="0"/>
                <a:cs typeface="Times New Roman" panose="02020603050405020304" pitchFamily="18" charset="0"/>
              </a:rPr>
              <a:t>         </a:t>
            </a:r>
          </a:p>
          <a:p>
            <a:pPr marL="457920" indent="-457200">
              <a:lnSpc>
                <a:spcPct val="120000"/>
              </a:lnSpc>
              <a:spcBef>
                <a:spcPts val="1001"/>
              </a:spcBef>
              <a:spcAft>
                <a:spcPts val="1199"/>
              </a:spcAft>
              <a:buClr>
                <a:srgbClr val="A53010"/>
              </a:buClr>
              <a:buFont typeface="Wingdings" panose="05000000000000000000" pitchFamily="2" charset="2"/>
              <a:buChar char="Ø"/>
            </a:pPr>
            <a:endParaRPr lang="fr-FR" sz="1600"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722313" indent="-273050" algn="just">
              <a:lnSpc>
                <a:spcPct val="120000"/>
              </a:lnSpc>
              <a:spcBef>
                <a:spcPts val="1001"/>
              </a:spcBef>
              <a:buFont typeface="Wingdings" panose="05000000000000000000" pitchFamily="2" charset="2"/>
              <a:buChar char="Ø"/>
            </a:pPr>
            <a:endParaRPr lang="fr-FR" sz="5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0" indent="0">
              <a:buNone/>
            </a:pPr>
            <a:endParaRPr lang="fr-FR" dirty="0"/>
          </a:p>
        </p:txBody>
      </p:sp>
      <p:pic>
        <p:nvPicPr>
          <p:cNvPr id="3" name="Image 2">
            <a:extLst>
              <a:ext uri="{FF2B5EF4-FFF2-40B4-BE49-F238E27FC236}">
                <a16:creationId xmlns:a16="http://schemas.microsoft.com/office/drawing/2014/main" id="{6F37FA38-40F6-3A32-D449-4C3EC73D6A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00393" y="1235075"/>
            <a:ext cx="4795024" cy="4962115"/>
          </a:xfrm>
          <a:prstGeom prst="rect">
            <a:avLst/>
          </a:prstGeom>
        </p:spPr>
      </p:pic>
    </p:spTree>
    <p:extLst>
      <p:ext uri="{BB962C8B-B14F-4D97-AF65-F5344CB8AC3E}">
        <p14:creationId xmlns:p14="http://schemas.microsoft.com/office/powerpoint/2010/main" val="1896503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86F216-F337-7438-FCCF-B1A7F094B764}"/>
              </a:ext>
            </a:extLst>
          </p:cNvPr>
          <p:cNvSpPr>
            <a:spLocks noGrp="1"/>
          </p:cNvSpPr>
          <p:nvPr>
            <p:ph type="title"/>
          </p:nvPr>
        </p:nvSpPr>
        <p:spPr>
          <a:xfrm>
            <a:off x="1648557" y="2703265"/>
            <a:ext cx="8894885" cy="1007089"/>
          </a:xfrm>
          <a:solidFill>
            <a:schemeClr val="accent6">
              <a:lumMod val="60000"/>
              <a:lumOff val="40000"/>
            </a:schemeClr>
          </a:solidFill>
        </p:spPr>
        <p:txBody>
          <a:bodyPr>
            <a:normAutofit/>
          </a:bodyPr>
          <a:lstStyle/>
          <a:p>
            <a:pPr algn="ctr"/>
            <a:r>
              <a:rPr lang="fr-FR" sz="4000" b="1" dirty="0"/>
              <a:t>Partie 3 : Réalisation</a:t>
            </a:r>
          </a:p>
        </p:txBody>
      </p:sp>
    </p:spTree>
    <p:extLst>
      <p:ext uri="{BB962C8B-B14F-4D97-AF65-F5344CB8AC3E}">
        <p14:creationId xmlns:p14="http://schemas.microsoft.com/office/powerpoint/2010/main" val="2385362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86F216-F337-7438-FCCF-B1A7F094B764}"/>
              </a:ext>
            </a:extLst>
          </p:cNvPr>
          <p:cNvSpPr>
            <a:spLocks noGrp="1"/>
          </p:cNvSpPr>
          <p:nvPr>
            <p:ph type="title"/>
          </p:nvPr>
        </p:nvSpPr>
        <p:spPr>
          <a:xfrm>
            <a:off x="1648557" y="2703265"/>
            <a:ext cx="8894885" cy="1007089"/>
          </a:xfrm>
          <a:solidFill>
            <a:schemeClr val="accent6">
              <a:lumMod val="60000"/>
              <a:lumOff val="40000"/>
            </a:schemeClr>
          </a:solidFill>
        </p:spPr>
        <p:txBody>
          <a:bodyPr>
            <a:normAutofit/>
          </a:bodyPr>
          <a:lstStyle/>
          <a:p>
            <a:pPr algn="ctr"/>
            <a:r>
              <a:rPr lang="fr-FR" sz="4000" b="1" dirty="0"/>
              <a:t>Démonstration</a:t>
            </a:r>
          </a:p>
        </p:txBody>
      </p:sp>
    </p:spTree>
    <p:extLst>
      <p:ext uri="{BB962C8B-B14F-4D97-AF65-F5344CB8AC3E}">
        <p14:creationId xmlns:p14="http://schemas.microsoft.com/office/powerpoint/2010/main" val="3768527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86F216-F337-7438-FCCF-B1A7F094B764}"/>
              </a:ext>
            </a:extLst>
          </p:cNvPr>
          <p:cNvSpPr>
            <a:spLocks noGrp="1"/>
          </p:cNvSpPr>
          <p:nvPr>
            <p:ph type="title"/>
          </p:nvPr>
        </p:nvSpPr>
        <p:spPr>
          <a:xfrm>
            <a:off x="1648557" y="937965"/>
            <a:ext cx="8894885" cy="1007089"/>
          </a:xfrm>
          <a:solidFill>
            <a:schemeClr val="accent6">
              <a:lumMod val="60000"/>
              <a:lumOff val="40000"/>
            </a:schemeClr>
          </a:solidFill>
        </p:spPr>
        <p:txBody>
          <a:bodyPr>
            <a:normAutofit/>
          </a:bodyPr>
          <a:lstStyle/>
          <a:p>
            <a:pPr algn="ctr"/>
            <a:r>
              <a:rPr lang="fr-FR" sz="4000" b="1" dirty="0"/>
              <a:t>Conclusion</a:t>
            </a:r>
          </a:p>
        </p:txBody>
      </p:sp>
      <p:sp>
        <p:nvSpPr>
          <p:cNvPr id="4" name="ZoneTexte 3">
            <a:extLst>
              <a:ext uri="{FF2B5EF4-FFF2-40B4-BE49-F238E27FC236}">
                <a16:creationId xmlns:a16="http://schemas.microsoft.com/office/drawing/2014/main" id="{E20F18DC-0930-0382-32D8-A5C329D4F29A}"/>
              </a:ext>
            </a:extLst>
          </p:cNvPr>
          <p:cNvSpPr txBox="1"/>
          <p:nvPr/>
        </p:nvSpPr>
        <p:spPr>
          <a:xfrm>
            <a:off x="1155700" y="2389138"/>
            <a:ext cx="10274300" cy="3360985"/>
          </a:xfrm>
          <a:prstGeom prst="rect">
            <a:avLst/>
          </a:prstGeom>
          <a:noFill/>
        </p:spPr>
        <p:txBody>
          <a:bodyPr wrap="square">
            <a:spAutoFit/>
          </a:bodyPr>
          <a:lstStyle/>
          <a:p>
            <a:pPr>
              <a:lnSpc>
                <a:spcPct val="150000"/>
              </a:lnSpc>
            </a:pPr>
            <a:r>
              <a:rPr lang="fr-FR" sz="2400" dirty="0">
                <a:effectLst/>
                <a:latin typeface="Times New Roman" panose="02020603050405020304" pitchFamily="18" charset="0"/>
                <a:ea typeface="Times New Roman" panose="02020603050405020304" pitchFamily="18" charset="0"/>
              </a:rPr>
              <a:t>Pour conclure, j’ai développé une application web de gestion des devis, factures et bons de livraison pour la menuiserie en mélamine et aluminium. Cette application permet aux clients d’obtenir des devis personnalisés pour leurs commandes, de manière rapide, et efficace. J’ai utilisé la méthodologie Scrum, la modélisation UML, le SGBD MySQL, et le Framework CodeIgniter 4 en PHP pour concevoir une solution performante</a:t>
            </a:r>
            <a:endParaRPr lang="en-US" sz="2400" dirty="0"/>
          </a:p>
        </p:txBody>
      </p:sp>
    </p:spTree>
    <p:extLst>
      <p:ext uri="{BB962C8B-B14F-4D97-AF65-F5344CB8AC3E}">
        <p14:creationId xmlns:p14="http://schemas.microsoft.com/office/powerpoint/2010/main" val="3911497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3C3B61-776C-4571-6CD3-AFB5C7320E30}"/>
              </a:ext>
            </a:extLst>
          </p:cNvPr>
          <p:cNvSpPr>
            <a:spLocks noGrp="1"/>
          </p:cNvSpPr>
          <p:nvPr>
            <p:ph type="title"/>
          </p:nvPr>
        </p:nvSpPr>
        <p:spPr>
          <a:xfrm>
            <a:off x="1132114" y="2766219"/>
            <a:ext cx="9739086" cy="1285082"/>
          </a:xfrm>
        </p:spPr>
        <p:txBody>
          <a:bodyPr>
            <a:noAutofit/>
          </a:bodyPr>
          <a:lstStyle/>
          <a:p>
            <a:pPr algn="ctr"/>
            <a:r>
              <a:rPr lang="fr-FR" sz="3600" b="1" dirty="0"/>
              <a:t>MERCI DE VOTRE AIMABLE ATTENTION !</a:t>
            </a:r>
          </a:p>
        </p:txBody>
      </p:sp>
    </p:spTree>
    <p:extLst>
      <p:ext uri="{BB962C8B-B14F-4D97-AF65-F5344CB8AC3E}">
        <p14:creationId xmlns:p14="http://schemas.microsoft.com/office/powerpoint/2010/main" val="186830248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que">
  <a:themeElements>
    <a:clrScheme name="Organique">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que">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que">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3517</TotalTime>
  <Words>1513</Words>
  <Application>Microsoft Office PowerPoint</Application>
  <PresentationFormat>Grand écran</PresentationFormat>
  <Paragraphs>195</Paragraphs>
  <Slides>19</Slides>
  <Notes>19</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19</vt:i4>
      </vt:variant>
    </vt:vector>
  </HeadingPairs>
  <TitlesOfParts>
    <vt:vector size="25" baseType="lpstr">
      <vt:lpstr>Arial</vt:lpstr>
      <vt:lpstr>Calibri</vt:lpstr>
      <vt:lpstr>Garamond</vt:lpstr>
      <vt:lpstr>Times New Roman</vt:lpstr>
      <vt:lpstr>Wingdings</vt:lpstr>
      <vt:lpstr>Organique</vt:lpstr>
      <vt:lpstr> Conception et développement d’une application web pour la gestion des devis, factures et bons de livraison dans le domaine de la menuiserie en mélamine et aluminium </vt:lpstr>
      <vt:lpstr>Remerciements</vt:lpstr>
      <vt:lpstr>INTRODUCTION</vt:lpstr>
      <vt:lpstr>Présentation PowerPoint</vt:lpstr>
      <vt:lpstr>Partie 1 : Présentations</vt:lpstr>
      <vt:lpstr>Présentation de l’ENI</vt:lpstr>
      <vt:lpstr>Présentation PowerPoint</vt:lpstr>
      <vt:lpstr>Présentation de la société SAIM Ltd</vt:lpstr>
      <vt:lpstr>Présentation PowerPoint</vt:lpstr>
      <vt:lpstr>Description de projet</vt:lpstr>
      <vt:lpstr>Partie 2 : Analyse et Conception</vt:lpstr>
      <vt:lpstr>Analyse Préalable</vt:lpstr>
      <vt:lpstr>Analyse Préalable</vt:lpstr>
      <vt:lpstr>Analyse Conceptuelle</vt:lpstr>
      <vt:lpstr>Analyse Conceptuelle</vt:lpstr>
      <vt:lpstr>Partie 3 : Réalisation</vt:lpstr>
      <vt:lpstr>Démonstration</vt:lpstr>
      <vt:lpstr>Conclusion</vt:lpstr>
      <vt:lpstr>MERCI DE VOTRE AIMABLE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Réalisation et conception d’une application Android pour les relevés de prix d’articles au sein de magasin concurrent</dc:title>
  <dc:creator>PC</dc:creator>
  <cp:lastModifiedBy>Tahindraza Nico</cp:lastModifiedBy>
  <cp:revision>182</cp:revision>
  <dcterms:created xsi:type="dcterms:W3CDTF">2023-02-01T03:21:53Z</dcterms:created>
  <dcterms:modified xsi:type="dcterms:W3CDTF">2025-02-03T22:14:05Z</dcterms:modified>
</cp:coreProperties>
</file>